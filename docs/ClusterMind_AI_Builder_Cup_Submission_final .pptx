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embeddedFontLst>
    <p:embeddedFont>
      <p:font typeface="Play"/>
      <p:regular r:id="rId19"/>
      <p:bold r:id="rId20"/>
    </p:embeddedFont>
    <p:embeddedFont>
      <p:font typeface="Google Sans Flex Medium"/>
      <p:regular r:id="rId21"/>
      <p:bold r:id="rId22"/>
    </p:embeddedFont>
    <p:embeddedFont>
      <p:font typeface="Google Sans Flex"/>
      <p:regular r:id="rId23"/>
      <p:bold r:id="rId24"/>
    </p:embeddedFont>
    <p:embeddedFont>
      <p:font typeface="Google Sans Flex SemiBold"/>
      <p:regular r:id="rId25"/>
      <p:bold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27" roundtripDataSignature="AMtx7mjCQoXgjdoeKdYgBNmxOlAGam/Eg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lay-bold.fntdata"/><Relationship Id="rId22" Type="http://schemas.openxmlformats.org/officeDocument/2006/relationships/font" Target="fonts/GoogleSansFlexMedium-bold.fntdata"/><Relationship Id="rId21" Type="http://schemas.openxmlformats.org/officeDocument/2006/relationships/font" Target="fonts/GoogleSansFlexMedium-regular.fntdata"/><Relationship Id="rId24" Type="http://schemas.openxmlformats.org/officeDocument/2006/relationships/font" Target="fonts/GoogleSansFlex-bold.fntdata"/><Relationship Id="rId23" Type="http://schemas.openxmlformats.org/officeDocument/2006/relationships/font" Target="fonts/GoogleSansFlex-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GoogleSansFlexSemiBold-bold.fntdata"/><Relationship Id="rId25" Type="http://schemas.openxmlformats.org/officeDocument/2006/relationships/font" Target="fonts/GoogleSansFlexSemiBold-regular.fntdata"/><Relationship Id="rId27"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Play-regular.fntdata"/><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 name="Google Shape;6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 name="Google Shape;7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 name="Google Shape;86;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6" name="Google Shape;96;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6" name="Google Shape;116;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 name="Google Shape;130;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2" name="Google Shape;152;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4" name="Google Shape;174;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7" name="Google Shape;187;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8" name="Google Shape;198;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8" name="Google Shape;208;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1" name="Google Shape;221;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17"/>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17"/>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18"/>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5" name="Google Shape;15;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 name="Google Shape;18;p1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9" name="Google Shape;19;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20"/>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20"/>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2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22"/>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22"/>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23"/>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2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2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2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2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2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26"/>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26"/>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
          <p:cNvSpPr txBox="1"/>
          <p:nvPr/>
        </p:nvSpPr>
        <p:spPr>
          <a:xfrm>
            <a:off x="146600" y="2902694"/>
            <a:ext cx="8760000" cy="2003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1" i="0" lang="en-GB" sz="2400" u="none" cap="none" strike="noStrike">
                <a:solidFill>
                  <a:srgbClr val="182D4E"/>
                </a:solidFill>
                <a:latin typeface="Arial"/>
                <a:ea typeface="Arial"/>
                <a:cs typeface="Arial"/>
                <a:sym typeface="Arial"/>
              </a:rPr>
              <a:t>Team Details</a:t>
            </a:r>
            <a:endParaRPr b="0" i="0" sz="2100" u="none" cap="none" strike="noStrike">
              <a:solidFill>
                <a:srgbClr val="000000"/>
              </a:solidFill>
              <a:latin typeface="Google Sans Flex SemiBold"/>
              <a:ea typeface="Google Sans Flex SemiBold"/>
              <a:cs typeface="Google Sans Flex SemiBold"/>
              <a:sym typeface="Google Sans Flex SemiBold"/>
            </a:endParaRPr>
          </a:p>
          <a:p>
            <a:pPr indent="0" lvl="0" marL="0" marR="0" rtl="0" algn="l">
              <a:lnSpc>
                <a:spcPct val="100000"/>
              </a:lnSpc>
              <a:spcBef>
                <a:spcPts val="900"/>
              </a:spcBef>
              <a:spcAft>
                <a:spcPts val="0"/>
              </a:spcAft>
              <a:buNone/>
            </a:pPr>
            <a:r>
              <a:rPr b="0" i="0" lang="en-GB" sz="1600" u="none" cap="none" strike="noStrike">
                <a:solidFill>
                  <a:srgbClr val="2B3441"/>
                </a:solidFill>
                <a:latin typeface="Arial"/>
                <a:ea typeface="Arial"/>
                <a:cs typeface="Arial"/>
                <a:sym typeface="Arial"/>
              </a:rPr>
              <a:t>Team name: ClusterMind</a:t>
            </a:r>
            <a:endParaRPr/>
          </a:p>
          <a:p>
            <a:pPr indent="0" lvl="0" marL="0" marR="0" rtl="0" algn="l">
              <a:lnSpc>
                <a:spcPct val="100000"/>
              </a:lnSpc>
              <a:spcBef>
                <a:spcPts val="900"/>
              </a:spcBef>
              <a:spcAft>
                <a:spcPts val="0"/>
              </a:spcAft>
              <a:buNone/>
            </a:pPr>
            <a:r>
              <a:rPr b="0" i="0" lang="en-GB" sz="1600" u="none" cap="none" strike="noStrike">
                <a:solidFill>
                  <a:srgbClr val="2B3441"/>
                </a:solidFill>
                <a:latin typeface="Arial"/>
                <a:ea typeface="Arial"/>
                <a:cs typeface="Arial"/>
                <a:sym typeface="Arial"/>
              </a:rPr>
              <a:t>Team leader name: </a:t>
            </a:r>
            <a:r>
              <a:rPr lang="en-GB" sz="1600">
                <a:solidFill>
                  <a:srgbClr val="2B3441"/>
                </a:solidFill>
              </a:rPr>
              <a:t>ChaeHwa Kwak</a:t>
            </a:r>
            <a:endParaRPr b="0" i="0" sz="1600" u="none" cap="none" strike="noStrike">
              <a:solidFill>
                <a:srgbClr val="2B3441"/>
              </a:solidFill>
              <a:latin typeface="Arial"/>
              <a:ea typeface="Arial"/>
              <a:cs typeface="Arial"/>
              <a:sym typeface="Arial"/>
            </a:endParaRPr>
          </a:p>
          <a:p>
            <a:pPr indent="0" lvl="0" marL="0" marR="0" rtl="0" algn="l">
              <a:lnSpc>
                <a:spcPct val="100000"/>
              </a:lnSpc>
              <a:spcBef>
                <a:spcPts val="900"/>
              </a:spcBef>
              <a:spcAft>
                <a:spcPts val="0"/>
              </a:spcAft>
              <a:buNone/>
            </a:pPr>
            <a:r>
              <a:rPr lang="en-GB" sz="1600">
                <a:solidFill>
                  <a:srgbClr val="2B3441"/>
                </a:solidFill>
              </a:rPr>
              <a:t>Team members name: ChaeHwa Kwak, Arpita Pani</a:t>
            </a:r>
            <a:endParaRPr/>
          </a:p>
          <a:p>
            <a:pPr indent="0" lvl="0" marL="0" marR="0" rtl="0" algn="l">
              <a:lnSpc>
                <a:spcPct val="100000"/>
              </a:lnSpc>
              <a:spcBef>
                <a:spcPts val="900"/>
              </a:spcBef>
              <a:spcAft>
                <a:spcPts val="900"/>
              </a:spcAft>
              <a:buNone/>
            </a:pPr>
            <a:r>
              <a:rPr b="0" i="0" lang="en-GB" sz="1400" u="none" cap="none" strike="noStrike">
                <a:solidFill>
                  <a:srgbClr val="2B3441"/>
                </a:solidFill>
                <a:latin typeface="Arial"/>
                <a:ea typeface="Arial"/>
                <a:cs typeface="Arial"/>
                <a:sym typeface="Arial"/>
              </a:rPr>
              <a:t>Problem Statement: Kubernetes clusters are complex and difficult to understand. Teams lack a clear, continuously updated view of resource relationships, dependencies, and the potential blast radius of failures.</a:t>
            </a:r>
            <a:endParaRPr/>
          </a:p>
        </p:txBody>
      </p:sp>
      <p:pic>
        <p:nvPicPr>
          <p:cNvPr id="55" name="Google Shape;55;p1" title="Frame 144.png"/>
          <p:cNvPicPr preferRelativeResize="0"/>
          <p:nvPr/>
        </p:nvPicPr>
        <p:blipFill rotWithShape="1">
          <a:blip r:embed="rId3">
            <a:alphaModFix/>
          </a:blip>
          <a:srcRect b="0" l="0" r="0" t="0"/>
          <a:stretch/>
        </p:blipFill>
        <p:spPr>
          <a:xfrm>
            <a:off x="0" y="-3"/>
            <a:ext cx="9144000" cy="2715526"/>
          </a:xfrm>
          <a:prstGeom prst="rect">
            <a:avLst/>
          </a:prstGeom>
          <a:noFill/>
          <a:ln>
            <a:noFill/>
          </a:ln>
        </p:spPr>
      </p:pic>
      <p:pic>
        <p:nvPicPr>
          <p:cNvPr id="56" name="Google Shape;56;p1" title="Frame 144.png"/>
          <p:cNvPicPr preferRelativeResize="0"/>
          <p:nvPr/>
        </p:nvPicPr>
        <p:blipFill rotWithShape="1">
          <a:blip r:embed="rId4">
            <a:alphaModFix/>
          </a:blip>
          <a:srcRect b="98001" l="0" r="0" t="0"/>
          <a:stretch/>
        </p:blipFill>
        <p:spPr>
          <a:xfrm>
            <a:off x="0" y="5093562"/>
            <a:ext cx="9144000" cy="54275"/>
          </a:xfrm>
          <a:prstGeom prst="rect">
            <a:avLst/>
          </a:prstGeom>
          <a:noFill/>
          <a:ln>
            <a:noFill/>
          </a:ln>
        </p:spPr>
      </p:pic>
      <p:pic>
        <p:nvPicPr>
          <p:cNvPr id="57" name="Google Shape;57;p1"/>
          <p:cNvPicPr preferRelativeResize="0"/>
          <p:nvPr/>
        </p:nvPicPr>
        <p:blipFill>
          <a:blip r:embed="rId5">
            <a:alphaModFix/>
          </a:blip>
          <a:stretch>
            <a:fillRect/>
          </a:stretch>
        </p:blipFill>
        <p:spPr>
          <a:xfrm>
            <a:off x="7247272" y="2966897"/>
            <a:ext cx="1309700" cy="6233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pic>
        <p:nvPicPr>
          <p:cNvPr id="62" name="Google Shape;62;p2" title="Group 427319979.png"/>
          <p:cNvPicPr preferRelativeResize="0"/>
          <p:nvPr/>
        </p:nvPicPr>
        <p:blipFill rotWithShape="1">
          <a:blip r:embed="rId3">
            <a:alphaModFix/>
          </a:blip>
          <a:srcRect b="0" l="0" r="0" t="0"/>
          <a:stretch/>
        </p:blipFill>
        <p:spPr>
          <a:xfrm>
            <a:off x="0" y="1"/>
            <a:ext cx="9144000" cy="507359"/>
          </a:xfrm>
          <a:prstGeom prst="rect">
            <a:avLst/>
          </a:prstGeom>
          <a:noFill/>
          <a:ln>
            <a:noFill/>
          </a:ln>
        </p:spPr>
      </p:pic>
      <p:sp>
        <p:nvSpPr>
          <p:cNvPr id="63" name="Google Shape;63;p2"/>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 name="Google Shape;64;p2"/>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rgbClr val="000000"/>
                </a:solidFill>
                <a:latin typeface="Google Sans Flex Medium"/>
                <a:ea typeface="Google Sans Flex Medium"/>
                <a:cs typeface="Google Sans Flex Medium"/>
                <a:sym typeface="Google Sans Flex Medium"/>
              </a:rPr>
              <a:t>Brief about the idea</a:t>
            </a:r>
            <a:endParaRPr b="0" i="0" sz="1600" u="none" cap="none" strike="noStrike">
              <a:solidFill>
                <a:srgbClr val="000000"/>
              </a:solidFill>
              <a:latin typeface="Google Sans Flex Medium"/>
              <a:ea typeface="Google Sans Flex Medium"/>
              <a:cs typeface="Google Sans Flex Medium"/>
              <a:sym typeface="Google Sans Flex Medium"/>
            </a:endParaRPr>
          </a:p>
        </p:txBody>
      </p:sp>
      <p:sp>
        <p:nvSpPr>
          <p:cNvPr id="65" name="Google Shape;65;p2"/>
          <p:cNvSpPr txBox="1"/>
          <p:nvPr/>
        </p:nvSpPr>
        <p:spPr>
          <a:xfrm>
            <a:off x="347455" y="1122520"/>
            <a:ext cx="8321100" cy="794100"/>
          </a:xfrm>
          <a:prstGeom prst="rect">
            <a:avLst/>
          </a:prstGeom>
          <a:noFill/>
          <a:ln>
            <a:noFill/>
          </a:ln>
        </p:spPr>
        <p:txBody>
          <a:bodyPr anchorCtr="0" anchor="t" bIns="73150" lIns="73150" spcFirstLastPara="1" rIns="73150" wrap="square" tIns="73150">
            <a:spAutoFit/>
          </a:bodyPr>
          <a:lstStyle/>
          <a:p>
            <a:pPr indent="0" lvl="0" marL="0" marR="0" rtl="0" algn="l">
              <a:lnSpc>
                <a:spcPct val="100000"/>
              </a:lnSpc>
              <a:spcBef>
                <a:spcPts val="0"/>
              </a:spcBef>
              <a:spcAft>
                <a:spcPts val="0"/>
              </a:spcAft>
              <a:buNone/>
            </a:pPr>
            <a:r>
              <a:rPr b="1" i="0" lang="en-GB" sz="2100" u="none" cap="none" strike="noStrike">
                <a:solidFill>
                  <a:srgbClr val="182D4E"/>
                </a:solidFill>
                <a:latin typeface="Arial"/>
                <a:ea typeface="Arial"/>
                <a:cs typeface="Arial"/>
                <a:sym typeface="Arial"/>
              </a:rPr>
              <a:t>ClusterMind: An AI-powered Kubernetes topology and impact analysis platform</a:t>
            </a:r>
            <a:endParaRPr/>
          </a:p>
        </p:txBody>
      </p:sp>
      <p:sp>
        <p:nvSpPr>
          <p:cNvPr id="66" name="Google Shape;66;p2"/>
          <p:cNvSpPr txBox="1"/>
          <p:nvPr/>
        </p:nvSpPr>
        <p:spPr>
          <a:xfrm>
            <a:off x="438912" y="1965960"/>
            <a:ext cx="8229600" cy="658368"/>
          </a:xfrm>
          <a:prstGeom prst="rect">
            <a:avLst/>
          </a:prstGeom>
          <a:noFill/>
          <a:ln>
            <a:noFill/>
          </a:ln>
        </p:spPr>
        <p:txBody>
          <a:bodyPr anchorCtr="0" anchor="t" bIns="73150" lIns="73150" spcFirstLastPara="1" rIns="73150" wrap="square" tIns="73150">
            <a:spAutoFit/>
          </a:bodyPr>
          <a:lstStyle/>
          <a:p>
            <a:pPr indent="0" lvl="0" marL="0" marR="0" rtl="0" algn="l">
              <a:lnSpc>
                <a:spcPct val="100000"/>
              </a:lnSpc>
              <a:spcBef>
                <a:spcPts val="0"/>
              </a:spcBef>
              <a:spcAft>
                <a:spcPts val="0"/>
              </a:spcAft>
              <a:buNone/>
            </a:pPr>
            <a:r>
              <a:rPr b="0" i="0" lang="en-GB" sz="1400" u="none" cap="none" strike="noStrike">
                <a:solidFill>
                  <a:srgbClr val="2B3441"/>
                </a:solidFill>
                <a:latin typeface="Arial"/>
                <a:ea typeface="Arial"/>
                <a:cs typeface="Arial"/>
                <a:sym typeface="Arial"/>
              </a:rPr>
              <a:t>ClusterMind converts live Kubernetes resource data into an understandable service map. It discovers how workloads, services, ingress routes, configuration, and infrastructure resources relate to one another, then uses AI to explain architecture and investigate the likely impact of failures.</a:t>
            </a:r>
            <a:endParaRPr/>
          </a:p>
        </p:txBody>
      </p:sp>
      <p:sp>
        <p:nvSpPr>
          <p:cNvPr id="67" name="Google Shape;67;p2"/>
          <p:cNvSpPr/>
          <p:nvPr/>
        </p:nvSpPr>
        <p:spPr>
          <a:xfrm>
            <a:off x="457200" y="2852928"/>
            <a:ext cx="2606040" cy="1261872"/>
          </a:xfrm>
          <a:prstGeom prst="roundRect">
            <a:avLst>
              <a:gd fmla="val 16667" name="adj"/>
            </a:avLst>
          </a:prstGeom>
          <a:solidFill>
            <a:srgbClr val="EBF3FC"/>
          </a:solidFill>
          <a:ln cap="flat" cmpd="sng" w="16500">
            <a:solidFill>
              <a:srgbClr val="3070C4"/>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73150" lIns="109725" spcFirstLastPara="1" rIns="109725" wrap="square" tIns="91425">
            <a:noAutofit/>
          </a:bodyPr>
          <a:lstStyle/>
          <a:p>
            <a:pPr indent="0" lvl="0" marL="0" marR="0" rtl="0" algn="ctr">
              <a:lnSpc>
                <a:spcPct val="100000"/>
              </a:lnSpc>
              <a:spcBef>
                <a:spcPts val="0"/>
              </a:spcBef>
              <a:spcAft>
                <a:spcPts val="0"/>
              </a:spcAft>
              <a:buNone/>
            </a:pPr>
            <a:r>
              <a:rPr b="1" i="0" lang="en-GB" sz="1500" u="none" cap="none" strike="noStrike">
                <a:solidFill>
                  <a:srgbClr val="3070C4"/>
                </a:solidFill>
                <a:latin typeface="Play"/>
                <a:ea typeface="Play"/>
                <a:cs typeface="Play"/>
                <a:sym typeface="Play"/>
              </a:rPr>
              <a:t>DISCOVER</a:t>
            </a:r>
            <a:endParaRPr/>
          </a:p>
          <a:p>
            <a:pPr indent="0" lvl="0" marL="0" marR="0" rtl="0" algn="l">
              <a:lnSpc>
                <a:spcPct val="100000"/>
              </a:lnSpc>
              <a:spcBef>
                <a:spcPts val="500"/>
              </a:spcBef>
              <a:spcAft>
                <a:spcPts val="0"/>
              </a:spcAft>
              <a:buNone/>
            </a:pPr>
            <a:r>
              <a:rPr b="0" i="0" lang="en-GB" sz="1200" u="none" cap="none" strike="noStrike">
                <a:solidFill>
                  <a:srgbClr val="2B3441"/>
                </a:solidFill>
                <a:latin typeface="Arial"/>
                <a:ea typeface="Arial"/>
                <a:cs typeface="Arial"/>
                <a:sym typeface="Arial"/>
              </a:rPr>
              <a:t>Collect cluster resources and build a dependency graph.</a:t>
            </a:r>
            <a:endParaRPr/>
          </a:p>
        </p:txBody>
      </p:sp>
      <p:sp>
        <p:nvSpPr>
          <p:cNvPr id="68" name="Google Shape;68;p2"/>
          <p:cNvSpPr/>
          <p:nvPr/>
        </p:nvSpPr>
        <p:spPr>
          <a:xfrm>
            <a:off x="3264408" y="2852928"/>
            <a:ext cx="2606040" cy="1261872"/>
          </a:xfrm>
          <a:prstGeom prst="roundRect">
            <a:avLst>
              <a:gd fmla="val 16667" name="adj"/>
            </a:avLst>
          </a:prstGeom>
          <a:solidFill>
            <a:srgbClr val="F6F9FD"/>
          </a:solidFill>
          <a:ln cap="flat" cmpd="sng" w="16500">
            <a:solidFill>
              <a:srgbClr val="34ACB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73150" lIns="109725" spcFirstLastPara="1" rIns="109725" wrap="square" tIns="91425">
            <a:noAutofit/>
          </a:bodyPr>
          <a:lstStyle/>
          <a:p>
            <a:pPr indent="0" lvl="0" marL="0" marR="0" rtl="0" algn="ctr">
              <a:lnSpc>
                <a:spcPct val="100000"/>
              </a:lnSpc>
              <a:spcBef>
                <a:spcPts val="0"/>
              </a:spcBef>
              <a:spcAft>
                <a:spcPts val="0"/>
              </a:spcAft>
              <a:buNone/>
            </a:pPr>
            <a:r>
              <a:rPr b="1" i="0" lang="en-GB" sz="1500" u="none" cap="none" strike="noStrike">
                <a:solidFill>
                  <a:srgbClr val="34ACBE"/>
                </a:solidFill>
                <a:latin typeface="Play"/>
                <a:ea typeface="Play"/>
                <a:cs typeface="Play"/>
                <a:sym typeface="Play"/>
              </a:rPr>
              <a:t>UNDERSTAND</a:t>
            </a:r>
            <a:endParaRPr/>
          </a:p>
          <a:p>
            <a:pPr indent="0" lvl="0" marL="0" marR="0" rtl="0" algn="l">
              <a:lnSpc>
                <a:spcPct val="100000"/>
              </a:lnSpc>
              <a:spcBef>
                <a:spcPts val="500"/>
              </a:spcBef>
              <a:spcAft>
                <a:spcPts val="0"/>
              </a:spcAft>
              <a:buNone/>
            </a:pPr>
            <a:r>
              <a:rPr b="0" i="0" lang="en-GB" sz="1200" u="none" cap="none" strike="noStrike">
                <a:solidFill>
                  <a:srgbClr val="2B3441"/>
                </a:solidFill>
                <a:latin typeface="Arial"/>
                <a:ea typeface="Arial"/>
                <a:cs typeface="Arial"/>
                <a:sym typeface="Arial"/>
              </a:rPr>
              <a:t>Ask questions in natural language and receive evidence-linked answers.</a:t>
            </a:r>
            <a:endParaRPr/>
          </a:p>
        </p:txBody>
      </p:sp>
      <p:sp>
        <p:nvSpPr>
          <p:cNvPr id="69" name="Google Shape;69;p2"/>
          <p:cNvSpPr/>
          <p:nvPr/>
        </p:nvSpPr>
        <p:spPr>
          <a:xfrm>
            <a:off x="6071616" y="2852928"/>
            <a:ext cx="2606040" cy="1261872"/>
          </a:xfrm>
          <a:prstGeom prst="roundRect">
            <a:avLst>
              <a:gd fmla="val 16667" name="adj"/>
            </a:avLst>
          </a:prstGeom>
          <a:solidFill>
            <a:srgbClr val="EBF3FC"/>
          </a:solidFill>
          <a:ln cap="flat" cmpd="sng" w="16500">
            <a:solidFill>
              <a:srgbClr val="2A916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73150" lIns="109725" spcFirstLastPara="1" rIns="109725" wrap="square" tIns="91425">
            <a:noAutofit/>
          </a:bodyPr>
          <a:lstStyle/>
          <a:p>
            <a:pPr indent="0" lvl="0" marL="0" marR="0" rtl="0" algn="ctr">
              <a:lnSpc>
                <a:spcPct val="100000"/>
              </a:lnSpc>
              <a:spcBef>
                <a:spcPts val="0"/>
              </a:spcBef>
              <a:spcAft>
                <a:spcPts val="0"/>
              </a:spcAft>
              <a:buNone/>
            </a:pPr>
            <a:r>
              <a:rPr b="1" i="0" lang="en-GB" sz="1500" u="none" cap="none" strike="noStrike">
                <a:solidFill>
                  <a:srgbClr val="2A916C"/>
                </a:solidFill>
                <a:latin typeface="Play"/>
                <a:ea typeface="Play"/>
                <a:cs typeface="Play"/>
                <a:sym typeface="Play"/>
              </a:rPr>
              <a:t>ANTICIPATE</a:t>
            </a:r>
            <a:endParaRPr/>
          </a:p>
          <a:p>
            <a:pPr indent="0" lvl="0" marL="0" marR="0" rtl="0" algn="l">
              <a:lnSpc>
                <a:spcPct val="100000"/>
              </a:lnSpc>
              <a:spcBef>
                <a:spcPts val="500"/>
              </a:spcBef>
              <a:spcAft>
                <a:spcPts val="0"/>
              </a:spcAft>
              <a:buNone/>
            </a:pPr>
            <a:r>
              <a:rPr b="0" i="0" lang="en-GB" sz="1200" u="none" cap="none" strike="noStrike">
                <a:solidFill>
                  <a:srgbClr val="2B3441"/>
                </a:solidFill>
                <a:latin typeface="Arial"/>
                <a:ea typeface="Arial"/>
                <a:cs typeface="Arial"/>
                <a:sym typeface="Arial"/>
              </a:rPr>
              <a:t>Trace failure impact and identify affected services before changes.</a:t>
            </a:r>
            <a:endParaRPr/>
          </a:p>
        </p:txBody>
      </p:sp>
      <p:sp>
        <p:nvSpPr>
          <p:cNvPr id="70" name="Google Shape;70;p2"/>
          <p:cNvSpPr txBox="1"/>
          <p:nvPr/>
        </p:nvSpPr>
        <p:spPr>
          <a:xfrm>
            <a:off x="502920" y="4343400"/>
            <a:ext cx="8138160" cy="502920"/>
          </a:xfrm>
          <a:prstGeom prst="rect">
            <a:avLst/>
          </a:prstGeom>
          <a:noFill/>
          <a:ln>
            <a:noFill/>
          </a:ln>
        </p:spPr>
        <p:txBody>
          <a:bodyPr anchorCtr="0" anchor="t" bIns="73150" lIns="73150" spcFirstLastPara="1" rIns="73150" wrap="square" tIns="73150">
            <a:spAutoFit/>
          </a:bodyPr>
          <a:lstStyle/>
          <a:p>
            <a:pPr indent="0" lvl="0" marL="0" marR="0" rtl="0" algn="l">
              <a:lnSpc>
                <a:spcPct val="100000"/>
              </a:lnSpc>
              <a:spcBef>
                <a:spcPts val="0"/>
              </a:spcBef>
              <a:spcAft>
                <a:spcPts val="0"/>
              </a:spcAft>
              <a:buNone/>
            </a:pPr>
            <a:r>
              <a:rPr b="0" i="0" lang="en-GB" sz="1300" u="none" cap="none" strike="noStrike">
                <a:solidFill>
                  <a:srgbClr val="647080"/>
                </a:solidFill>
                <a:latin typeface="Arial"/>
                <a:ea typeface="Arial"/>
                <a:cs typeface="Arial"/>
                <a:sym typeface="Arial"/>
              </a:rPr>
              <a:t>Target users: SREs, platform engineers, DevOps teams, developers, and teams onboarding to unfamiliar clusters.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pic>
        <p:nvPicPr>
          <p:cNvPr id="75" name="Google Shape;75;p3"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76" name="Google Shape;76;p3" title="Group 427319979.png"/>
          <p:cNvPicPr preferRelativeResize="0"/>
          <p:nvPr/>
        </p:nvPicPr>
        <p:blipFill rotWithShape="1">
          <a:blip r:embed="rId4">
            <a:alphaModFix/>
          </a:blip>
          <a:srcRect b="0" l="0" r="0" t="0"/>
          <a:stretch/>
        </p:blipFill>
        <p:spPr>
          <a:xfrm>
            <a:off x="0" y="1"/>
            <a:ext cx="9144000" cy="507359"/>
          </a:xfrm>
          <a:prstGeom prst="rect">
            <a:avLst/>
          </a:prstGeom>
          <a:noFill/>
          <a:ln>
            <a:noFill/>
          </a:ln>
        </p:spPr>
      </p:pic>
      <p:sp>
        <p:nvSpPr>
          <p:cNvPr id="77" name="Google Shape;77;p3"/>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3"/>
          <p:cNvSpPr txBox="1"/>
          <p:nvPr/>
        </p:nvSpPr>
        <p:spPr>
          <a:xfrm>
            <a:off x="265350" y="663825"/>
            <a:ext cx="8943000" cy="1366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rgbClr val="000000"/>
                </a:solidFill>
                <a:latin typeface="Google Sans Flex SemiBold"/>
                <a:ea typeface="Google Sans Flex SemiBold"/>
                <a:cs typeface="Google Sans Flex SemiBold"/>
                <a:sym typeface="Google Sans Flex SemiBold"/>
              </a:rPr>
              <a:t>Opportunities</a:t>
            </a:r>
            <a:br>
              <a:rPr b="0" i="0" lang="en-GB" sz="1600" u="none" cap="none" strike="noStrike">
                <a:solidFill>
                  <a:srgbClr val="000000"/>
                </a:solidFill>
                <a:latin typeface="Google Sans Flex SemiBold"/>
                <a:ea typeface="Google Sans Flex SemiBold"/>
                <a:cs typeface="Google Sans Flex SemiBold"/>
                <a:sym typeface="Google Sans Flex SemiBold"/>
              </a:rPr>
            </a:br>
            <a:endParaRPr b="0" i="0" sz="1600" u="none" cap="none" strike="noStrike">
              <a:solidFill>
                <a:srgbClr val="000000"/>
              </a:solidFill>
              <a:latin typeface="Google Sans Flex SemiBold"/>
              <a:ea typeface="Google Sans Flex SemiBold"/>
              <a:cs typeface="Google Sans Flex SemiBold"/>
              <a:sym typeface="Google Sans Flex SemiBold"/>
            </a:endParaRPr>
          </a:p>
          <a:p>
            <a:pPr indent="-311150" lvl="0" marL="457200" marR="0" rtl="0" algn="l">
              <a:lnSpc>
                <a:spcPct val="100000"/>
              </a:lnSpc>
              <a:spcBef>
                <a:spcPts val="0"/>
              </a:spcBef>
              <a:spcAft>
                <a:spcPts val="0"/>
              </a:spcAft>
              <a:buClr>
                <a:srgbClr val="000000"/>
              </a:buClr>
              <a:buSzPts val="1300"/>
              <a:buFont typeface="Google Sans Flex"/>
              <a:buChar char="●"/>
            </a:pPr>
            <a:r>
              <a:rPr b="0" i="0" lang="en-GB" sz="1300" u="none" cap="none" strike="noStrike">
                <a:solidFill>
                  <a:srgbClr val="000000"/>
                </a:solidFill>
                <a:latin typeface="Google Sans Flex"/>
                <a:ea typeface="Google Sans Flex"/>
                <a:cs typeface="Google Sans Flex"/>
                <a:sym typeface="Google Sans Flex"/>
              </a:rPr>
              <a:t>How different is it from any of the other existing ideas?</a:t>
            </a:r>
            <a:endParaRPr b="0" i="0" sz="1300" u="none" cap="none" strike="noStrike">
              <a:solidFill>
                <a:srgbClr val="000000"/>
              </a:solidFill>
              <a:latin typeface="Google Sans Flex"/>
              <a:ea typeface="Google Sans Flex"/>
              <a:cs typeface="Google Sans Flex"/>
              <a:sym typeface="Google Sans Flex"/>
            </a:endParaRPr>
          </a:p>
          <a:p>
            <a:pPr indent="-311150" lvl="0" marL="457200" marR="0" rtl="0" algn="l">
              <a:lnSpc>
                <a:spcPct val="100000"/>
              </a:lnSpc>
              <a:spcBef>
                <a:spcPts val="0"/>
              </a:spcBef>
              <a:spcAft>
                <a:spcPts val="0"/>
              </a:spcAft>
              <a:buClr>
                <a:srgbClr val="000000"/>
              </a:buClr>
              <a:buSzPts val="1300"/>
              <a:buFont typeface="Google Sans Flex"/>
              <a:buChar char="●"/>
            </a:pPr>
            <a:r>
              <a:rPr b="0" i="0" lang="en-GB" sz="1300" u="none" cap="none" strike="noStrike">
                <a:solidFill>
                  <a:srgbClr val="000000"/>
                </a:solidFill>
                <a:latin typeface="Google Sans Flex"/>
                <a:ea typeface="Google Sans Flex"/>
                <a:cs typeface="Google Sans Flex"/>
                <a:sym typeface="Google Sans Flex"/>
              </a:rPr>
              <a:t>How will it be able to solve the problem?</a:t>
            </a:r>
            <a:endParaRPr b="0" i="0" sz="1300" u="none" cap="none" strike="noStrike">
              <a:solidFill>
                <a:srgbClr val="000000"/>
              </a:solidFill>
              <a:latin typeface="Google Sans Flex"/>
              <a:ea typeface="Google Sans Flex"/>
              <a:cs typeface="Google Sans Flex"/>
              <a:sym typeface="Google Sans Flex"/>
            </a:endParaRPr>
          </a:p>
          <a:p>
            <a:pPr indent="-311150" lvl="0" marL="457200" marR="0" rtl="0" algn="l">
              <a:lnSpc>
                <a:spcPct val="100000"/>
              </a:lnSpc>
              <a:spcBef>
                <a:spcPts val="0"/>
              </a:spcBef>
              <a:spcAft>
                <a:spcPts val="0"/>
              </a:spcAft>
              <a:buClr>
                <a:srgbClr val="000000"/>
              </a:buClr>
              <a:buSzPts val="1300"/>
              <a:buFont typeface="Google Sans Flex"/>
              <a:buChar char="●"/>
            </a:pPr>
            <a:r>
              <a:rPr b="0" i="0" lang="en-GB" sz="1300" u="none" cap="none" strike="noStrike">
                <a:solidFill>
                  <a:srgbClr val="000000"/>
                </a:solidFill>
                <a:latin typeface="Google Sans Flex"/>
                <a:ea typeface="Google Sans Flex"/>
                <a:cs typeface="Google Sans Flex"/>
                <a:sym typeface="Google Sans Flex"/>
              </a:rPr>
              <a:t>USP of the proposed solution</a:t>
            </a:r>
            <a:endParaRPr b="0" i="0" sz="1300" u="none" cap="none" strike="noStrike">
              <a:solidFill>
                <a:srgbClr val="000000"/>
              </a:solidFill>
              <a:latin typeface="Google Sans Flex"/>
              <a:ea typeface="Google Sans Flex"/>
              <a:cs typeface="Google Sans Flex"/>
              <a:sym typeface="Google Sans Flex"/>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Google Sans Flex Medium"/>
              <a:ea typeface="Google Sans Flex Medium"/>
              <a:cs typeface="Google Sans Flex Medium"/>
              <a:sym typeface="Google Sans Flex Medium"/>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Google Sans Flex Medium"/>
              <a:ea typeface="Google Sans Flex Medium"/>
              <a:cs typeface="Google Sans Flex Medium"/>
              <a:sym typeface="Google Sans Flex Medium"/>
            </a:endParaRPr>
          </a:p>
        </p:txBody>
      </p:sp>
      <p:sp>
        <p:nvSpPr>
          <p:cNvPr id="79" name="Google Shape;79;p3"/>
          <p:cNvSpPr txBox="1"/>
          <p:nvPr/>
        </p:nvSpPr>
        <p:spPr>
          <a:xfrm>
            <a:off x="411480" y="1965960"/>
            <a:ext cx="8321040" cy="594360"/>
          </a:xfrm>
          <a:prstGeom prst="rect">
            <a:avLst/>
          </a:prstGeom>
          <a:noFill/>
          <a:ln>
            <a:noFill/>
          </a:ln>
        </p:spPr>
        <p:txBody>
          <a:bodyPr anchorCtr="0" anchor="t" bIns="73150" lIns="73150" spcFirstLastPara="1" rIns="73150" wrap="square" tIns="73150">
            <a:spAutoFit/>
          </a:bodyPr>
          <a:lstStyle/>
          <a:p>
            <a:pPr indent="0" lvl="0" marL="0" marR="0" rtl="0" algn="l">
              <a:lnSpc>
                <a:spcPct val="100000"/>
              </a:lnSpc>
              <a:spcBef>
                <a:spcPts val="0"/>
              </a:spcBef>
              <a:spcAft>
                <a:spcPts val="0"/>
              </a:spcAft>
              <a:buNone/>
            </a:pPr>
            <a:r>
              <a:rPr b="0" i="0" lang="en-GB" sz="1500" u="none" cap="none" strike="noStrike">
                <a:solidFill>
                  <a:srgbClr val="2B3441"/>
                </a:solidFill>
                <a:latin typeface="Arial"/>
                <a:ea typeface="Arial"/>
                <a:cs typeface="Arial"/>
                <a:sym typeface="Arial"/>
              </a:rPr>
              <a:t>The opportunity: make Kubernetes architecture understandable to both experts and newcomers, without manually maintaining diagrams or tracing dependencies across dozens of resources.</a:t>
            </a:r>
            <a:endParaRPr/>
          </a:p>
        </p:txBody>
      </p:sp>
      <p:sp>
        <p:nvSpPr>
          <p:cNvPr id="80" name="Google Shape;80;p3"/>
          <p:cNvSpPr/>
          <p:nvPr/>
        </p:nvSpPr>
        <p:spPr>
          <a:xfrm>
            <a:off x="438912" y="2697480"/>
            <a:ext cx="2651760" cy="1143000"/>
          </a:xfrm>
          <a:prstGeom prst="roundRect">
            <a:avLst>
              <a:gd fmla="val 16667" name="adj"/>
            </a:avLst>
          </a:prstGeom>
          <a:solidFill>
            <a:srgbClr val="F6F9FD"/>
          </a:solidFill>
          <a:ln cap="flat" cmpd="sng" w="16500">
            <a:solidFill>
              <a:srgbClr val="3070C4"/>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73150" lIns="109725" spcFirstLastPara="1" rIns="109725" wrap="square" tIns="91425">
            <a:noAutofit/>
          </a:bodyPr>
          <a:lstStyle/>
          <a:p>
            <a:pPr indent="0" lvl="0" marL="0" marR="0" rtl="0" algn="ctr">
              <a:lnSpc>
                <a:spcPct val="100000"/>
              </a:lnSpc>
              <a:spcBef>
                <a:spcPts val="0"/>
              </a:spcBef>
              <a:spcAft>
                <a:spcPts val="0"/>
              </a:spcAft>
              <a:buNone/>
            </a:pPr>
            <a:r>
              <a:rPr b="1" i="0" lang="en-GB" sz="1400" u="none" cap="none" strike="noStrike">
                <a:solidFill>
                  <a:srgbClr val="3070C4"/>
                </a:solidFill>
                <a:latin typeface="Play"/>
                <a:ea typeface="Play"/>
                <a:cs typeface="Play"/>
                <a:sym typeface="Play"/>
              </a:rPr>
              <a:t>How it differs</a:t>
            </a:r>
            <a:endParaRPr/>
          </a:p>
          <a:p>
            <a:pPr indent="0" lvl="0" marL="0" marR="0" rtl="0" algn="l">
              <a:lnSpc>
                <a:spcPct val="100000"/>
              </a:lnSpc>
              <a:spcBef>
                <a:spcPts val="500"/>
              </a:spcBef>
              <a:spcAft>
                <a:spcPts val="0"/>
              </a:spcAft>
              <a:buNone/>
            </a:pPr>
            <a:r>
              <a:rPr b="0" i="0" lang="en-GB" sz="1100" u="none" cap="none" strike="noStrike">
                <a:solidFill>
                  <a:srgbClr val="2B3441"/>
                </a:solidFill>
                <a:latin typeface="Arial"/>
                <a:ea typeface="Arial"/>
                <a:cs typeface="Arial"/>
                <a:sym typeface="Arial"/>
              </a:rPr>
              <a:t>Live topology + dependency graph + AI explanations, rather than a static diagram or a general-purpose chatbot.</a:t>
            </a:r>
            <a:endParaRPr/>
          </a:p>
        </p:txBody>
      </p:sp>
      <p:sp>
        <p:nvSpPr>
          <p:cNvPr id="81" name="Google Shape;81;p3"/>
          <p:cNvSpPr/>
          <p:nvPr/>
        </p:nvSpPr>
        <p:spPr>
          <a:xfrm>
            <a:off x="3246120" y="2697480"/>
            <a:ext cx="2651760" cy="1143000"/>
          </a:xfrm>
          <a:prstGeom prst="roundRect">
            <a:avLst>
              <a:gd fmla="val 16667" name="adj"/>
            </a:avLst>
          </a:prstGeom>
          <a:solidFill>
            <a:srgbClr val="EBF3FC"/>
          </a:solidFill>
          <a:ln cap="flat" cmpd="sng" w="16500">
            <a:solidFill>
              <a:srgbClr val="34ACB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73150" lIns="109725" spcFirstLastPara="1" rIns="109725" wrap="square" tIns="91425">
            <a:noAutofit/>
          </a:bodyPr>
          <a:lstStyle/>
          <a:p>
            <a:pPr indent="0" lvl="0" marL="0" marR="0" rtl="0" algn="ctr">
              <a:lnSpc>
                <a:spcPct val="100000"/>
              </a:lnSpc>
              <a:spcBef>
                <a:spcPts val="0"/>
              </a:spcBef>
              <a:spcAft>
                <a:spcPts val="0"/>
              </a:spcAft>
              <a:buNone/>
            </a:pPr>
            <a:r>
              <a:rPr b="1" i="0" lang="en-GB" sz="1400" u="none" cap="none" strike="noStrike">
                <a:solidFill>
                  <a:srgbClr val="34ACBE"/>
                </a:solidFill>
                <a:latin typeface="Play"/>
                <a:ea typeface="Play"/>
                <a:cs typeface="Play"/>
                <a:sym typeface="Play"/>
              </a:rPr>
              <a:t>How it solves the problem</a:t>
            </a:r>
            <a:endParaRPr/>
          </a:p>
          <a:p>
            <a:pPr indent="0" lvl="0" marL="0" marR="0" rtl="0" algn="l">
              <a:lnSpc>
                <a:spcPct val="100000"/>
              </a:lnSpc>
              <a:spcBef>
                <a:spcPts val="500"/>
              </a:spcBef>
              <a:spcAft>
                <a:spcPts val="0"/>
              </a:spcAft>
              <a:buNone/>
            </a:pPr>
            <a:r>
              <a:rPr b="0" i="0" lang="en-GB" sz="1100" u="none" cap="none" strike="noStrike">
                <a:solidFill>
                  <a:srgbClr val="2B3441"/>
                </a:solidFill>
                <a:latin typeface="Arial"/>
                <a:ea typeface="Arial"/>
                <a:cs typeface="Arial"/>
                <a:sym typeface="Arial"/>
              </a:rPr>
              <a:t>Maps Kubernetes relationships and links explanations to observed resources, events, and configuration.</a:t>
            </a:r>
            <a:endParaRPr/>
          </a:p>
        </p:txBody>
      </p:sp>
      <p:sp>
        <p:nvSpPr>
          <p:cNvPr id="82" name="Google Shape;82;p3"/>
          <p:cNvSpPr/>
          <p:nvPr/>
        </p:nvSpPr>
        <p:spPr>
          <a:xfrm>
            <a:off x="6053328" y="2697480"/>
            <a:ext cx="2651760" cy="1143000"/>
          </a:xfrm>
          <a:prstGeom prst="roundRect">
            <a:avLst>
              <a:gd fmla="val 16667" name="adj"/>
            </a:avLst>
          </a:prstGeom>
          <a:solidFill>
            <a:srgbClr val="F6F9FD"/>
          </a:solidFill>
          <a:ln cap="flat" cmpd="sng" w="16500">
            <a:solidFill>
              <a:srgbClr val="2A916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73150" lIns="109725" spcFirstLastPara="1" rIns="109725" wrap="square" tIns="91425">
            <a:noAutofit/>
          </a:bodyPr>
          <a:lstStyle/>
          <a:p>
            <a:pPr indent="0" lvl="0" marL="0" marR="0" rtl="0" algn="ctr">
              <a:lnSpc>
                <a:spcPct val="100000"/>
              </a:lnSpc>
              <a:spcBef>
                <a:spcPts val="0"/>
              </a:spcBef>
              <a:spcAft>
                <a:spcPts val="0"/>
              </a:spcAft>
              <a:buNone/>
            </a:pPr>
            <a:r>
              <a:rPr b="1" i="0" lang="en-GB" sz="1400" u="none" cap="none" strike="noStrike">
                <a:solidFill>
                  <a:srgbClr val="2A916C"/>
                </a:solidFill>
                <a:latin typeface="Play"/>
                <a:ea typeface="Play"/>
                <a:cs typeface="Play"/>
                <a:sym typeface="Play"/>
              </a:rPr>
              <a:t>Unique selling point</a:t>
            </a:r>
            <a:endParaRPr/>
          </a:p>
          <a:p>
            <a:pPr indent="0" lvl="0" marL="0" marR="0" rtl="0" algn="l">
              <a:lnSpc>
                <a:spcPct val="100000"/>
              </a:lnSpc>
              <a:spcBef>
                <a:spcPts val="500"/>
              </a:spcBef>
              <a:spcAft>
                <a:spcPts val="0"/>
              </a:spcAft>
              <a:buNone/>
            </a:pPr>
            <a:r>
              <a:rPr b="0" i="0" lang="en-GB" sz="1100" u="none" cap="none" strike="noStrike">
                <a:solidFill>
                  <a:srgbClr val="2B3441"/>
                </a:solidFill>
                <a:latin typeface="Arial"/>
                <a:ea typeface="Arial"/>
                <a:cs typeface="Arial"/>
                <a:sym typeface="Arial"/>
              </a:rPr>
              <a:t>Ask “What breaks if this service fails?” and get a visual, evidence-based blast-radius analysis.</a:t>
            </a:r>
            <a:endParaRPr/>
          </a:p>
        </p:txBody>
      </p:sp>
      <p:sp>
        <p:nvSpPr>
          <p:cNvPr id="83" name="Google Shape;83;p3"/>
          <p:cNvSpPr txBox="1"/>
          <p:nvPr/>
        </p:nvSpPr>
        <p:spPr>
          <a:xfrm>
            <a:off x="502920" y="4096512"/>
            <a:ext cx="8138160" cy="566928"/>
          </a:xfrm>
          <a:prstGeom prst="rect">
            <a:avLst/>
          </a:prstGeom>
          <a:noFill/>
          <a:ln>
            <a:noFill/>
          </a:ln>
        </p:spPr>
        <p:txBody>
          <a:bodyPr anchorCtr="0" anchor="t" bIns="73150" lIns="73150" spcFirstLastPara="1" rIns="73150" wrap="square" tIns="73150">
            <a:spAutoFit/>
          </a:bodyPr>
          <a:lstStyle/>
          <a:p>
            <a:pPr indent="0" lvl="0" marL="0" marR="0" rtl="0" algn="l">
              <a:lnSpc>
                <a:spcPct val="100000"/>
              </a:lnSpc>
              <a:spcBef>
                <a:spcPts val="0"/>
              </a:spcBef>
              <a:spcAft>
                <a:spcPts val="0"/>
              </a:spcAft>
              <a:buNone/>
            </a:pPr>
            <a:r>
              <a:rPr b="1" i="0" lang="en-GB" sz="1400" u="none" cap="none" strike="noStrike">
                <a:solidFill>
                  <a:srgbClr val="182D4E"/>
                </a:solidFill>
                <a:latin typeface="Arial"/>
                <a:ea typeface="Arial"/>
                <a:cs typeface="Arial"/>
                <a:sym typeface="Arial"/>
              </a:rPr>
              <a:t>Value proposition: reduce investigation time, improve change confidence, accelerate onboarding, and preserve architecture knowledge as the cluster evolves.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p4"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89" name="Google Shape;89;p4" title="Group 427319979.png"/>
          <p:cNvPicPr preferRelativeResize="0"/>
          <p:nvPr/>
        </p:nvPicPr>
        <p:blipFill rotWithShape="1">
          <a:blip r:embed="rId4">
            <a:alphaModFix/>
          </a:blip>
          <a:srcRect b="0" l="0" r="0" t="0"/>
          <a:stretch/>
        </p:blipFill>
        <p:spPr>
          <a:xfrm>
            <a:off x="0" y="1"/>
            <a:ext cx="9144000" cy="507359"/>
          </a:xfrm>
          <a:prstGeom prst="rect">
            <a:avLst/>
          </a:prstGeom>
          <a:noFill/>
          <a:ln>
            <a:noFill/>
          </a:ln>
        </p:spPr>
      </p:pic>
      <p:sp>
        <p:nvSpPr>
          <p:cNvPr id="90" name="Google Shape;90;p4"/>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4"/>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rgbClr val="000000"/>
                </a:solidFill>
                <a:latin typeface="Google Sans Flex Medium"/>
                <a:ea typeface="Google Sans Flex Medium"/>
                <a:cs typeface="Google Sans Flex Medium"/>
                <a:sym typeface="Google Sans Flex Medium"/>
              </a:rPr>
              <a:t>List of features offered by the solution</a:t>
            </a:r>
            <a:endParaRPr b="0" i="0" sz="1600" u="none" cap="none" strike="noStrike">
              <a:solidFill>
                <a:srgbClr val="000000"/>
              </a:solidFill>
              <a:latin typeface="Google Sans Flex Medium"/>
              <a:ea typeface="Google Sans Flex Medium"/>
              <a:cs typeface="Google Sans Flex Medium"/>
              <a:sym typeface="Google Sans Flex Medium"/>
            </a:endParaRPr>
          </a:p>
        </p:txBody>
      </p:sp>
      <p:sp>
        <p:nvSpPr>
          <p:cNvPr id="92" name="Google Shape;92;p4"/>
          <p:cNvSpPr txBox="1"/>
          <p:nvPr/>
        </p:nvSpPr>
        <p:spPr>
          <a:xfrm>
            <a:off x="502920" y="1481328"/>
            <a:ext cx="8183879" cy="3337560"/>
          </a:xfrm>
          <a:prstGeom prst="rect">
            <a:avLst/>
          </a:prstGeom>
          <a:noFill/>
          <a:ln>
            <a:noFill/>
          </a:ln>
        </p:spPr>
        <p:txBody>
          <a:bodyPr anchorCtr="0" anchor="t" bIns="36575" lIns="109725" spcFirstLastPara="1" rIns="109725" wrap="square" tIns="73150">
            <a:spAutoFit/>
          </a:bodyPr>
          <a:lstStyle/>
          <a:p>
            <a:pPr indent="0" lvl="0" marL="0" marR="0" rtl="0" algn="l">
              <a:lnSpc>
                <a:spcPct val="100000"/>
              </a:lnSpc>
              <a:spcBef>
                <a:spcPts val="0"/>
              </a:spcBef>
              <a:spcAft>
                <a:spcPts val="0"/>
              </a:spcAft>
              <a:buNone/>
            </a:pPr>
            <a:r>
              <a:rPr b="0" i="0" lang="en-GB" sz="1400" u="none" cap="none" strike="noStrike">
                <a:solidFill>
                  <a:srgbClr val="2B3441"/>
                </a:solidFill>
                <a:latin typeface="Arial"/>
                <a:ea typeface="Arial"/>
                <a:cs typeface="Arial"/>
                <a:sym typeface="Arial"/>
              </a:rPr>
              <a:t>• Automatic discovery of Kubernetes resources across selected namespaces.</a:t>
            </a:r>
            <a:endParaRPr/>
          </a:p>
          <a:p>
            <a:pPr indent="0" lvl="0" marL="0" marR="0" rtl="0" algn="l">
              <a:lnSpc>
                <a:spcPct val="100000"/>
              </a:lnSpc>
              <a:spcBef>
                <a:spcPts val="600"/>
              </a:spcBef>
              <a:spcAft>
                <a:spcPts val="0"/>
              </a:spcAft>
              <a:buNone/>
            </a:pPr>
            <a:r>
              <a:rPr b="0" i="0" lang="en-GB" sz="1400" u="none" cap="none" strike="noStrike">
                <a:solidFill>
                  <a:srgbClr val="2B3441"/>
                </a:solidFill>
                <a:latin typeface="Arial"/>
                <a:ea typeface="Arial"/>
                <a:cs typeface="Arial"/>
                <a:sym typeface="Arial"/>
              </a:rPr>
              <a:t>• Interactive topology map for Deployments, Pods, Services, Ingresses, ConfigMaps, and selected workload relationships.</a:t>
            </a:r>
            <a:endParaRPr/>
          </a:p>
          <a:p>
            <a:pPr indent="0" lvl="0" marL="0" marR="0" rtl="0" algn="l">
              <a:lnSpc>
                <a:spcPct val="100000"/>
              </a:lnSpc>
              <a:spcBef>
                <a:spcPts val="600"/>
              </a:spcBef>
              <a:spcAft>
                <a:spcPts val="0"/>
              </a:spcAft>
              <a:buNone/>
            </a:pPr>
            <a:r>
              <a:rPr b="0" i="0" lang="en-GB" sz="1400" u="none" cap="none" strike="noStrike">
                <a:solidFill>
                  <a:srgbClr val="2B3441"/>
                </a:solidFill>
                <a:latin typeface="Arial"/>
                <a:ea typeface="Arial"/>
                <a:cs typeface="Arial"/>
                <a:sym typeface="Arial"/>
              </a:rPr>
              <a:t>• Dependency graph with drill-down from service to workload and pod.</a:t>
            </a:r>
            <a:endParaRPr/>
          </a:p>
          <a:p>
            <a:pPr indent="0" lvl="0" marL="0" marR="0" rtl="0" algn="l">
              <a:lnSpc>
                <a:spcPct val="100000"/>
              </a:lnSpc>
              <a:spcBef>
                <a:spcPts val="600"/>
              </a:spcBef>
              <a:spcAft>
                <a:spcPts val="0"/>
              </a:spcAft>
              <a:buNone/>
            </a:pPr>
            <a:r>
              <a:rPr b="0" i="0" lang="en-GB" sz="1400" u="none" cap="none" strike="noStrike">
                <a:solidFill>
                  <a:srgbClr val="2B3441"/>
                </a:solidFill>
                <a:latin typeface="Arial"/>
                <a:ea typeface="Arial"/>
                <a:cs typeface="Arial"/>
                <a:sym typeface="Arial"/>
              </a:rPr>
              <a:t>• Natural-language Q&amp;A about architecture and resource relationships.</a:t>
            </a:r>
            <a:endParaRPr/>
          </a:p>
          <a:p>
            <a:pPr indent="0" lvl="0" marL="0" marR="0" rtl="0" algn="l">
              <a:lnSpc>
                <a:spcPct val="100000"/>
              </a:lnSpc>
              <a:spcBef>
                <a:spcPts val="600"/>
              </a:spcBef>
              <a:spcAft>
                <a:spcPts val="0"/>
              </a:spcAft>
              <a:buNone/>
            </a:pPr>
            <a:r>
              <a:rPr b="0" i="0" lang="en-GB" sz="1400" u="none" cap="none" strike="noStrike">
                <a:solidFill>
                  <a:srgbClr val="2B3441"/>
                </a:solidFill>
                <a:latin typeface="Arial"/>
                <a:ea typeface="Arial"/>
                <a:cs typeface="Arial"/>
                <a:sym typeface="Arial"/>
              </a:rPr>
              <a:t>• Failure blast-radius analysis for a selected resource or service.</a:t>
            </a:r>
            <a:endParaRPr/>
          </a:p>
          <a:p>
            <a:pPr indent="0" lvl="0" marL="0" marR="0" rtl="0" algn="l">
              <a:lnSpc>
                <a:spcPct val="100000"/>
              </a:lnSpc>
              <a:spcBef>
                <a:spcPts val="600"/>
              </a:spcBef>
              <a:spcAft>
                <a:spcPts val="0"/>
              </a:spcAft>
              <a:buNone/>
            </a:pPr>
            <a:r>
              <a:rPr b="0" i="0" lang="en-GB" sz="1400" u="none" cap="none" strike="noStrike">
                <a:solidFill>
                  <a:srgbClr val="2B3441"/>
                </a:solidFill>
                <a:latin typeface="Arial"/>
                <a:ea typeface="Arial"/>
                <a:cs typeface="Arial"/>
                <a:sym typeface="Arial"/>
              </a:rPr>
              <a:t>• AI-generated architecture summaries with evidence links to source objects.</a:t>
            </a:r>
            <a:endParaRPr/>
          </a:p>
          <a:p>
            <a:pPr indent="0" lvl="0" marL="0" marR="0" rtl="0" algn="l">
              <a:lnSpc>
                <a:spcPct val="100000"/>
              </a:lnSpc>
              <a:spcBef>
                <a:spcPts val="600"/>
              </a:spcBef>
              <a:spcAft>
                <a:spcPts val="0"/>
              </a:spcAft>
              <a:buNone/>
            </a:pPr>
            <a:r>
              <a:rPr b="0" i="0" lang="en-GB" sz="1400" u="none" cap="none" strike="noStrike">
                <a:solidFill>
                  <a:srgbClr val="2B3441"/>
                </a:solidFill>
                <a:latin typeface="Arial"/>
                <a:ea typeface="Arial"/>
                <a:cs typeface="Arial"/>
                <a:sym typeface="Arial"/>
              </a:rPr>
              <a:t>• Export topology and summaries to Mermaid / Markdown for documentation.</a:t>
            </a:r>
            <a:endParaRPr/>
          </a:p>
          <a:p>
            <a:pPr indent="0" lvl="0" marL="0" marR="0" rtl="0" algn="l">
              <a:lnSpc>
                <a:spcPct val="100000"/>
              </a:lnSpc>
              <a:spcBef>
                <a:spcPts val="600"/>
              </a:spcBef>
              <a:spcAft>
                <a:spcPts val="0"/>
              </a:spcAft>
              <a:buNone/>
            </a:pPr>
            <a:r>
              <a:rPr b="0" i="0" lang="en-GB" sz="1400" u="none" cap="none" strike="noStrike">
                <a:solidFill>
                  <a:srgbClr val="2B3441"/>
                </a:solidFill>
                <a:latin typeface="Arial"/>
                <a:ea typeface="Arial"/>
                <a:cs typeface="Arial"/>
                <a:sym typeface="Arial"/>
              </a:rPr>
              <a:t>• Read-only access by default, namespace scoping, and configurable data redaction.</a:t>
            </a:r>
            <a:endParaRPr/>
          </a:p>
        </p:txBody>
      </p:sp>
      <p:sp>
        <p:nvSpPr>
          <p:cNvPr id="93" name="Google Shape;93;p4"/>
          <p:cNvSpPr txBox="1"/>
          <p:nvPr/>
        </p:nvSpPr>
        <p:spPr>
          <a:xfrm>
            <a:off x="566928" y="4754880"/>
            <a:ext cx="8046720" cy="256032"/>
          </a:xfrm>
          <a:prstGeom prst="rect">
            <a:avLst/>
          </a:prstGeom>
          <a:noFill/>
          <a:ln>
            <a:noFill/>
          </a:ln>
        </p:spPr>
        <p:txBody>
          <a:bodyPr anchorCtr="0" anchor="t" bIns="73150" lIns="73150" spcFirstLastPara="1" rIns="73150" wrap="square" tIns="73150">
            <a:spAutoFit/>
          </a:bodyPr>
          <a:lstStyle/>
          <a:p>
            <a:pPr indent="0" lvl="0" marL="0" marR="0" rtl="0" algn="l">
              <a:lnSpc>
                <a:spcPct val="100000"/>
              </a:lnSpc>
              <a:spcBef>
                <a:spcPts val="0"/>
              </a:spcBef>
              <a:spcAft>
                <a:spcPts val="0"/>
              </a:spcAft>
              <a:buNone/>
            </a:pPr>
            <a:r>
              <a:rPr b="1" i="0" lang="en-GB" sz="1200" u="none" cap="none" strike="noStrike">
                <a:solidFill>
                  <a:srgbClr val="3070C4"/>
                </a:solidFill>
                <a:latin typeface="Arial"/>
                <a:ea typeface="Arial"/>
                <a:cs typeface="Arial"/>
                <a:sym typeface="Arial"/>
              </a:rPr>
              <a:t>MVP focus: topology discovery, dependency visualization, natural-language explanation, and blast-radius analysis.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pic>
        <p:nvPicPr>
          <p:cNvPr id="98" name="Google Shape;98;p5"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99" name="Google Shape;99;p5" title="Group 427319979.png"/>
          <p:cNvPicPr preferRelativeResize="0"/>
          <p:nvPr/>
        </p:nvPicPr>
        <p:blipFill rotWithShape="1">
          <a:blip r:embed="rId4">
            <a:alphaModFix/>
          </a:blip>
          <a:srcRect b="0" l="0" r="0" t="0"/>
          <a:stretch/>
        </p:blipFill>
        <p:spPr>
          <a:xfrm>
            <a:off x="0" y="1"/>
            <a:ext cx="9144000" cy="507359"/>
          </a:xfrm>
          <a:prstGeom prst="rect">
            <a:avLst/>
          </a:prstGeom>
          <a:noFill/>
          <a:ln>
            <a:noFill/>
          </a:ln>
        </p:spPr>
      </p:pic>
      <p:sp>
        <p:nvSpPr>
          <p:cNvPr id="100" name="Google Shape;100;p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5"/>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rgbClr val="000000"/>
                </a:solidFill>
                <a:latin typeface="Google Sans Flex Medium"/>
                <a:ea typeface="Google Sans Flex Medium"/>
                <a:cs typeface="Google Sans Flex Medium"/>
                <a:sym typeface="Google Sans Flex Medium"/>
              </a:rPr>
              <a:t>Process flow diagram or Use-case diagram</a:t>
            </a:r>
            <a:endParaRPr b="0" i="0" sz="1600" u="none" cap="none" strike="noStrike">
              <a:solidFill>
                <a:srgbClr val="000000"/>
              </a:solidFill>
              <a:latin typeface="Google Sans Flex Medium"/>
              <a:ea typeface="Google Sans Flex Medium"/>
              <a:cs typeface="Google Sans Flex Medium"/>
              <a:sym typeface="Google Sans Flex Medium"/>
            </a:endParaRPr>
          </a:p>
        </p:txBody>
      </p:sp>
      <p:sp>
        <p:nvSpPr>
          <p:cNvPr id="102" name="Google Shape;102;p5"/>
          <p:cNvSpPr/>
          <p:nvPr/>
        </p:nvSpPr>
        <p:spPr>
          <a:xfrm>
            <a:off x="320040" y="1645920"/>
            <a:ext cx="1600200" cy="914400"/>
          </a:xfrm>
          <a:prstGeom prst="roundRect">
            <a:avLst>
              <a:gd fmla="val 16667" name="adj"/>
            </a:avLst>
          </a:prstGeom>
          <a:solidFill>
            <a:srgbClr val="EBF3FC"/>
          </a:solidFill>
          <a:ln cap="flat" cmpd="sng" w="16500">
            <a:solidFill>
              <a:srgbClr val="3070C4"/>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73150" lIns="109725" spcFirstLastPara="1" rIns="109725" wrap="square" tIns="91425">
            <a:noAutofit/>
          </a:bodyPr>
          <a:lstStyle/>
          <a:p>
            <a:pPr indent="0" lvl="0" marL="0" marR="0" rtl="0" algn="ctr">
              <a:lnSpc>
                <a:spcPct val="100000"/>
              </a:lnSpc>
              <a:spcBef>
                <a:spcPts val="0"/>
              </a:spcBef>
              <a:spcAft>
                <a:spcPts val="0"/>
              </a:spcAft>
              <a:buNone/>
            </a:pPr>
            <a:r>
              <a:rPr b="1" i="0" lang="en-GB" sz="1300" u="none" cap="none" strike="noStrike">
                <a:solidFill>
                  <a:srgbClr val="3070C4"/>
                </a:solidFill>
                <a:latin typeface="Play"/>
                <a:ea typeface="Play"/>
                <a:cs typeface="Play"/>
                <a:sym typeface="Play"/>
              </a:rPr>
              <a:t>1. Connect</a:t>
            </a:r>
            <a:endParaRPr/>
          </a:p>
          <a:p>
            <a:pPr indent="0" lvl="0" marL="0" marR="0" rtl="0" algn="l">
              <a:lnSpc>
                <a:spcPct val="100000"/>
              </a:lnSpc>
              <a:spcBef>
                <a:spcPts val="500"/>
              </a:spcBef>
              <a:spcAft>
                <a:spcPts val="0"/>
              </a:spcAft>
              <a:buNone/>
            </a:pPr>
            <a:r>
              <a:rPr b="0" i="0" lang="en-GB" sz="1000" u="none" cap="none" strike="noStrike">
                <a:solidFill>
                  <a:srgbClr val="2B3441"/>
                </a:solidFill>
                <a:latin typeface="Arial"/>
                <a:ea typeface="Arial"/>
                <a:cs typeface="Arial"/>
                <a:sym typeface="Arial"/>
              </a:rPr>
              <a:t>Select cluster / namespace</a:t>
            </a:r>
            <a:endParaRPr/>
          </a:p>
        </p:txBody>
      </p:sp>
      <p:sp>
        <p:nvSpPr>
          <p:cNvPr id="103" name="Google Shape;103;p5"/>
          <p:cNvSpPr/>
          <p:nvPr/>
        </p:nvSpPr>
        <p:spPr>
          <a:xfrm>
            <a:off x="2240280" y="1645920"/>
            <a:ext cx="1600200" cy="914400"/>
          </a:xfrm>
          <a:prstGeom prst="roundRect">
            <a:avLst>
              <a:gd fmla="val 16667" name="adj"/>
            </a:avLst>
          </a:prstGeom>
          <a:solidFill>
            <a:srgbClr val="F6F9FD"/>
          </a:solidFill>
          <a:ln cap="flat" cmpd="sng" w="16500">
            <a:solidFill>
              <a:srgbClr val="34ACB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73150" lIns="109725" spcFirstLastPara="1" rIns="109725" wrap="square" tIns="91425">
            <a:noAutofit/>
          </a:bodyPr>
          <a:lstStyle/>
          <a:p>
            <a:pPr indent="0" lvl="0" marL="0" marR="0" rtl="0" algn="ctr">
              <a:lnSpc>
                <a:spcPct val="100000"/>
              </a:lnSpc>
              <a:spcBef>
                <a:spcPts val="0"/>
              </a:spcBef>
              <a:spcAft>
                <a:spcPts val="0"/>
              </a:spcAft>
              <a:buNone/>
            </a:pPr>
            <a:r>
              <a:rPr b="1" i="0" lang="en-GB" sz="1300" u="none" cap="none" strike="noStrike">
                <a:solidFill>
                  <a:srgbClr val="34ACBE"/>
                </a:solidFill>
                <a:latin typeface="Play"/>
                <a:ea typeface="Play"/>
                <a:cs typeface="Play"/>
                <a:sym typeface="Play"/>
              </a:rPr>
              <a:t>2. Discover</a:t>
            </a:r>
            <a:endParaRPr/>
          </a:p>
          <a:p>
            <a:pPr indent="0" lvl="0" marL="0" marR="0" rtl="0" algn="l">
              <a:lnSpc>
                <a:spcPct val="100000"/>
              </a:lnSpc>
              <a:spcBef>
                <a:spcPts val="500"/>
              </a:spcBef>
              <a:spcAft>
                <a:spcPts val="0"/>
              </a:spcAft>
              <a:buNone/>
            </a:pPr>
            <a:r>
              <a:rPr b="0" i="0" lang="en-GB" sz="1000" u="none" cap="none" strike="noStrike">
                <a:solidFill>
                  <a:srgbClr val="2B3441"/>
                </a:solidFill>
                <a:latin typeface="Arial"/>
                <a:ea typeface="Arial"/>
                <a:cs typeface="Arial"/>
                <a:sym typeface="Arial"/>
              </a:rPr>
              <a:t>Read K8s resources</a:t>
            </a:r>
            <a:endParaRPr/>
          </a:p>
        </p:txBody>
      </p:sp>
      <p:sp>
        <p:nvSpPr>
          <p:cNvPr id="104" name="Google Shape;104;p5"/>
          <p:cNvSpPr/>
          <p:nvPr/>
        </p:nvSpPr>
        <p:spPr>
          <a:xfrm>
            <a:off x="4160520" y="1645920"/>
            <a:ext cx="1600200" cy="914400"/>
          </a:xfrm>
          <a:prstGeom prst="roundRect">
            <a:avLst>
              <a:gd fmla="val 16667" name="adj"/>
            </a:avLst>
          </a:prstGeom>
          <a:solidFill>
            <a:srgbClr val="EBF3FC"/>
          </a:solidFill>
          <a:ln cap="flat" cmpd="sng" w="16500">
            <a:solidFill>
              <a:srgbClr val="3070C4"/>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73150" lIns="109725" spcFirstLastPara="1" rIns="109725" wrap="square" tIns="91425">
            <a:noAutofit/>
          </a:bodyPr>
          <a:lstStyle/>
          <a:p>
            <a:pPr indent="0" lvl="0" marL="0" marR="0" rtl="0" algn="ctr">
              <a:lnSpc>
                <a:spcPct val="100000"/>
              </a:lnSpc>
              <a:spcBef>
                <a:spcPts val="0"/>
              </a:spcBef>
              <a:spcAft>
                <a:spcPts val="0"/>
              </a:spcAft>
              <a:buNone/>
            </a:pPr>
            <a:r>
              <a:rPr b="1" i="0" lang="en-GB" sz="1300" u="none" cap="none" strike="noStrike">
                <a:solidFill>
                  <a:srgbClr val="3070C4"/>
                </a:solidFill>
                <a:latin typeface="Play"/>
                <a:ea typeface="Play"/>
                <a:cs typeface="Play"/>
                <a:sym typeface="Play"/>
              </a:rPr>
              <a:t>3. Build graph</a:t>
            </a:r>
            <a:endParaRPr/>
          </a:p>
          <a:p>
            <a:pPr indent="0" lvl="0" marL="0" marR="0" rtl="0" algn="l">
              <a:lnSpc>
                <a:spcPct val="100000"/>
              </a:lnSpc>
              <a:spcBef>
                <a:spcPts val="500"/>
              </a:spcBef>
              <a:spcAft>
                <a:spcPts val="0"/>
              </a:spcAft>
              <a:buNone/>
            </a:pPr>
            <a:r>
              <a:rPr b="0" i="0" lang="en-GB" sz="1000" u="none" cap="none" strike="noStrike">
                <a:solidFill>
                  <a:srgbClr val="2B3441"/>
                </a:solidFill>
                <a:latin typeface="Arial"/>
                <a:ea typeface="Arial"/>
                <a:cs typeface="Arial"/>
                <a:sym typeface="Arial"/>
              </a:rPr>
              <a:t>Resolve relationships</a:t>
            </a:r>
            <a:endParaRPr/>
          </a:p>
        </p:txBody>
      </p:sp>
      <p:sp>
        <p:nvSpPr>
          <p:cNvPr id="105" name="Google Shape;105;p5"/>
          <p:cNvSpPr/>
          <p:nvPr/>
        </p:nvSpPr>
        <p:spPr>
          <a:xfrm>
            <a:off x="6080760" y="1645920"/>
            <a:ext cx="1234440" cy="914400"/>
          </a:xfrm>
          <a:prstGeom prst="roundRect">
            <a:avLst>
              <a:gd fmla="val 16667" name="adj"/>
            </a:avLst>
          </a:prstGeom>
          <a:solidFill>
            <a:srgbClr val="F6F9FD"/>
          </a:solidFill>
          <a:ln cap="flat" cmpd="sng" w="16500">
            <a:solidFill>
              <a:srgbClr val="2A916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73150" lIns="109725" spcFirstLastPara="1" rIns="109725" wrap="square" tIns="91425">
            <a:noAutofit/>
          </a:bodyPr>
          <a:lstStyle/>
          <a:p>
            <a:pPr indent="0" lvl="0" marL="0" marR="0" rtl="0" algn="ctr">
              <a:lnSpc>
                <a:spcPct val="100000"/>
              </a:lnSpc>
              <a:spcBef>
                <a:spcPts val="0"/>
              </a:spcBef>
              <a:spcAft>
                <a:spcPts val="0"/>
              </a:spcAft>
              <a:buNone/>
            </a:pPr>
            <a:r>
              <a:rPr b="1" i="0" lang="en-GB" sz="1300" u="none" cap="none" strike="noStrike">
                <a:solidFill>
                  <a:srgbClr val="2A916C"/>
                </a:solidFill>
                <a:latin typeface="Play"/>
                <a:ea typeface="Play"/>
                <a:cs typeface="Play"/>
                <a:sym typeface="Play"/>
              </a:rPr>
              <a:t>4. Analyze</a:t>
            </a:r>
            <a:endParaRPr/>
          </a:p>
          <a:p>
            <a:pPr indent="0" lvl="0" marL="0" marR="0" rtl="0" algn="l">
              <a:lnSpc>
                <a:spcPct val="100000"/>
              </a:lnSpc>
              <a:spcBef>
                <a:spcPts val="500"/>
              </a:spcBef>
              <a:spcAft>
                <a:spcPts val="0"/>
              </a:spcAft>
              <a:buNone/>
            </a:pPr>
            <a:r>
              <a:rPr b="0" i="0" lang="en-GB" sz="1000" u="none" cap="none" strike="noStrike">
                <a:solidFill>
                  <a:srgbClr val="2B3441"/>
                </a:solidFill>
                <a:latin typeface="Arial"/>
                <a:ea typeface="Arial"/>
                <a:cs typeface="Arial"/>
                <a:sym typeface="Arial"/>
              </a:rPr>
              <a:t>AI + graph</a:t>
            </a:r>
            <a:endParaRPr/>
          </a:p>
        </p:txBody>
      </p:sp>
      <p:sp>
        <p:nvSpPr>
          <p:cNvPr id="106" name="Google Shape;106;p5"/>
          <p:cNvSpPr/>
          <p:nvPr/>
        </p:nvSpPr>
        <p:spPr>
          <a:xfrm>
            <a:off x="7635240" y="1645920"/>
            <a:ext cx="1234440" cy="914400"/>
          </a:xfrm>
          <a:prstGeom prst="roundRect">
            <a:avLst>
              <a:gd fmla="val 16667" name="adj"/>
            </a:avLst>
          </a:prstGeom>
          <a:solidFill>
            <a:srgbClr val="EBF3FC"/>
          </a:solidFill>
          <a:ln cap="flat" cmpd="sng" w="16500">
            <a:solidFill>
              <a:srgbClr val="34ACB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73150" lIns="109725" spcFirstLastPara="1" rIns="109725" wrap="square" tIns="91425">
            <a:noAutofit/>
          </a:bodyPr>
          <a:lstStyle/>
          <a:p>
            <a:pPr indent="0" lvl="0" marL="0" marR="0" rtl="0" algn="ctr">
              <a:lnSpc>
                <a:spcPct val="100000"/>
              </a:lnSpc>
              <a:spcBef>
                <a:spcPts val="0"/>
              </a:spcBef>
              <a:spcAft>
                <a:spcPts val="0"/>
              </a:spcAft>
              <a:buNone/>
            </a:pPr>
            <a:r>
              <a:rPr b="1" i="0" lang="en-GB" sz="1300" u="none" cap="none" strike="noStrike">
                <a:solidFill>
                  <a:srgbClr val="34ACBE"/>
                </a:solidFill>
                <a:latin typeface="Play"/>
                <a:ea typeface="Play"/>
                <a:cs typeface="Play"/>
                <a:sym typeface="Play"/>
              </a:rPr>
              <a:t>5. Explain</a:t>
            </a:r>
            <a:endParaRPr/>
          </a:p>
          <a:p>
            <a:pPr indent="0" lvl="0" marL="0" marR="0" rtl="0" algn="l">
              <a:lnSpc>
                <a:spcPct val="100000"/>
              </a:lnSpc>
              <a:spcBef>
                <a:spcPts val="500"/>
              </a:spcBef>
              <a:spcAft>
                <a:spcPts val="0"/>
              </a:spcAft>
              <a:buNone/>
            </a:pPr>
            <a:r>
              <a:rPr b="0" i="0" lang="en-GB" sz="1000" u="none" cap="none" strike="noStrike">
                <a:solidFill>
                  <a:srgbClr val="2B3441"/>
                </a:solidFill>
                <a:latin typeface="Arial"/>
                <a:ea typeface="Arial"/>
                <a:cs typeface="Arial"/>
                <a:sym typeface="Arial"/>
              </a:rPr>
              <a:t>Map + answer</a:t>
            </a:r>
            <a:endParaRPr/>
          </a:p>
        </p:txBody>
      </p:sp>
      <p:cxnSp>
        <p:nvCxnSpPr>
          <p:cNvPr id="107" name="Google Shape;107;p5"/>
          <p:cNvCxnSpPr/>
          <p:nvPr/>
        </p:nvCxnSpPr>
        <p:spPr>
          <a:xfrm>
            <a:off x="1920240" y="2103120"/>
            <a:ext cx="292608" cy="0"/>
          </a:xfrm>
          <a:prstGeom prst="straightConnector1">
            <a:avLst/>
          </a:prstGeom>
          <a:noFill/>
          <a:ln cap="flat" cmpd="sng" w="25400">
            <a:solidFill>
              <a:srgbClr val="3070C4"/>
            </a:solidFill>
            <a:prstDash val="solid"/>
            <a:round/>
            <a:headEnd len="sm" w="sm" type="none"/>
            <a:tailEnd len="sm" w="sm" type="none"/>
          </a:ln>
          <a:effectLst>
            <a:outerShdw blurRad="40000" rotWithShape="0" dir="5400000" dist="20000">
              <a:srgbClr val="000000">
                <a:alpha val="38039"/>
              </a:srgbClr>
            </a:outerShdw>
          </a:effectLst>
        </p:spPr>
      </p:cxnSp>
      <p:cxnSp>
        <p:nvCxnSpPr>
          <p:cNvPr id="108" name="Google Shape;108;p5"/>
          <p:cNvCxnSpPr/>
          <p:nvPr/>
        </p:nvCxnSpPr>
        <p:spPr>
          <a:xfrm>
            <a:off x="3840480" y="2103120"/>
            <a:ext cx="292607" cy="0"/>
          </a:xfrm>
          <a:prstGeom prst="straightConnector1">
            <a:avLst/>
          </a:prstGeom>
          <a:noFill/>
          <a:ln cap="flat" cmpd="sng" w="25400">
            <a:solidFill>
              <a:srgbClr val="3070C4"/>
            </a:solidFill>
            <a:prstDash val="solid"/>
            <a:round/>
            <a:headEnd len="sm" w="sm" type="none"/>
            <a:tailEnd len="sm" w="sm" type="none"/>
          </a:ln>
          <a:effectLst>
            <a:outerShdw blurRad="40000" rotWithShape="0" dir="5400000" dist="20000">
              <a:srgbClr val="000000">
                <a:alpha val="38039"/>
              </a:srgbClr>
            </a:outerShdw>
          </a:effectLst>
        </p:spPr>
      </p:cxnSp>
      <p:cxnSp>
        <p:nvCxnSpPr>
          <p:cNvPr id="109" name="Google Shape;109;p5"/>
          <p:cNvCxnSpPr/>
          <p:nvPr/>
        </p:nvCxnSpPr>
        <p:spPr>
          <a:xfrm>
            <a:off x="5760720" y="2103120"/>
            <a:ext cx="292608" cy="0"/>
          </a:xfrm>
          <a:prstGeom prst="straightConnector1">
            <a:avLst/>
          </a:prstGeom>
          <a:noFill/>
          <a:ln cap="flat" cmpd="sng" w="25400">
            <a:solidFill>
              <a:srgbClr val="3070C4"/>
            </a:solidFill>
            <a:prstDash val="solid"/>
            <a:round/>
            <a:headEnd len="sm" w="sm" type="none"/>
            <a:tailEnd len="sm" w="sm" type="none"/>
          </a:ln>
          <a:effectLst>
            <a:outerShdw blurRad="40000" rotWithShape="0" dir="5400000" dist="20000">
              <a:srgbClr val="000000">
                <a:alpha val="38039"/>
              </a:srgbClr>
            </a:outerShdw>
          </a:effectLst>
        </p:spPr>
      </p:cxnSp>
      <p:cxnSp>
        <p:nvCxnSpPr>
          <p:cNvPr id="110" name="Google Shape;110;p5"/>
          <p:cNvCxnSpPr/>
          <p:nvPr/>
        </p:nvCxnSpPr>
        <p:spPr>
          <a:xfrm>
            <a:off x="7333488" y="2103120"/>
            <a:ext cx="274320" cy="0"/>
          </a:xfrm>
          <a:prstGeom prst="straightConnector1">
            <a:avLst/>
          </a:prstGeom>
          <a:noFill/>
          <a:ln cap="flat" cmpd="sng" w="25400">
            <a:solidFill>
              <a:srgbClr val="3070C4"/>
            </a:solidFill>
            <a:prstDash val="solid"/>
            <a:round/>
            <a:headEnd len="sm" w="sm" type="none"/>
            <a:tailEnd len="sm" w="sm" type="none"/>
          </a:ln>
          <a:effectLst>
            <a:outerShdw blurRad="40000" rotWithShape="0" dir="5400000" dist="20000">
              <a:srgbClr val="000000">
                <a:alpha val="38039"/>
              </a:srgbClr>
            </a:outerShdw>
          </a:effectLst>
        </p:spPr>
      </p:cxnSp>
      <p:sp>
        <p:nvSpPr>
          <p:cNvPr id="111" name="Google Shape;111;p5"/>
          <p:cNvSpPr/>
          <p:nvPr/>
        </p:nvSpPr>
        <p:spPr>
          <a:xfrm>
            <a:off x="960120" y="3246120"/>
            <a:ext cx="3108960" cy="960120"/>
          </a:xfrm>
          <a:prstGeom prst="roundRect">
            <a:avLst>
              <a:gd fmla="val 16667" name="adj"/>
            </a:avLst>
          </a:prstGeom>
          <a:solidFill>
            <a:srgbClr val="F6F9FD"/>
          </a:solidFill>
          <a:ln cap="flat" cmpd="sng" w="16500">
            <a:solidFill>
              <a:srgbClr val="3070C4"/>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73150" lIns="109725" spcFirstLastPara="1" rIns="109725" wrap="square" tIns="91425">
            <a:noAutofit/>
          </a:bodyPr>
          <a:lstStyle/>
          <a:p>
            <a:pPr indent="0" lvl="0" marL="0" marR="0" rtl="0" algn="ctr">
              <a:lnSpc>
                <a:spcPct val="100000"/>
              </a:lnSpc>
              <a:spcBef>
                <a:spcPts val="0"/>
              </a:spcBef>
              <a:spcAft>
                <a:spcPts val="0"/>
              </a:spcAft>
              <a:buNone/>
            </a:pPr>
            <a:r>
              <a:rPr b="1" i="0" lang="en-GB" sz="1300" u="none" cap="none" strike="noStrike">
                <a:solidFill>
                  <a:srgbClr val="3070C4"/>
                </a:solidFill>
                <a:latin typeface="Play"/>
                <a:ea typeface="Play"/>
                <a:cs typeface="Play"/>
                <a:sym typeface="Play"/>
              </a:rPr>
              <a:t>Use case A: Understand a service</a:t>
            </a:r>
            <a:endParaRPr/>
          </a:p>
          <a:p>
            <a:pPr indent="0" lvl="0" marL="0" marR="0" rtl="0" algn="l">
              <a:lnSpc>
                <a:spcPct val="100000"/>
              </a:lnSpc>
              <a:spcBef>
                <a:spcPts val="500"/>
              </a:spcBef>
              <a:spcAft>
                <a:spcPts val="0"/>
              </a:spcAft>
              <a:buNone/>
            </a:pPr>
            <a:r>
              <a:rPr b="0" i="0" lang="en-GB" sz="1100" u="none" cap="none" strike="noStrike">
                <a:solidFill>
                  <a:srgbClr val="2B3441"/>
                </a:solidFill>
                <a:latin typeface="Arial"/>
                <a:ea typeface="Arial"/>
                <a:cs typeface="Arial"/>
                <a:sym typeface="Arial"/>
              </a:rPr>
              <a:t>User asks a question → ClusterMind highlights its dependencies and explains the request path.</a:t>
            </a:r>
            <a:endParaRPr/>
          </a:p>
        </p:txBody>
      </p:sp>
      <p:sp>
        <p:nvSpPr>
          <p:cNvPr id="112" name="Google Shape;112;p5"/>
          <p:cNvSpPr/>
          <p:nvPr/>
        </p:nvSpPr>
        <p:spPr>
          <a:xfrm>
            <a:off x="4709160" y="3246120"/>
            <a:ext cx="3429000" cy="960120"/>
          </a:xfrm>
          <a:prstGeom prst="roundRect">
            <a:avLst>
              <a:gd fmla="val 16667" name="adj"/>
            </a:avLst>
          </a:prstGeom>
          <a:solidFill>
            <a:srgbClr val="F6F9FD"/>
          </a:solidFill>
          <a:ln cap="flat" cmpd="sng" w="16500">
            <a:solidFill>
              <a:srgbClr val="BE464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73150" lIns="109725" spcFirstLastPara="1" rIns="109725" wrap="square" tIns="91425">
            <a:noAutofit/>
          </a:bodyPr>
          <a:lstStyle/>
          <a:p>
            <a:pPr indent="0" lvl="0" marL="0" marR="0" rtl="0" algn="ctr">
              <a:lnSpc>
                <a:spcPct val="100000"/>
              </a:lnSpc>
              <a:spcBef>
                <a:spcPts val="0"/>
              </a:spcBef>
              <a:spcAft>
                <a:spcPts val="0"/>
              </a:spcAft>
              <a:buNone/>
            </a:pPr>
            <a:r>
              <a:rPr b="1" i="0" lang="en-GB" sz="1300" u="none" cap="none" strike="noStrike">
                <a:solidFill>
                  <a:srgbClr val="BE4646"/>
                </a:solidFill>
                <a:latin typeface="Play"/>
                <a:ea typeface="Play"/>
                <a:cs typeface="Play"/>
                <a:sym typeface="Play"/>
              </a:rPr>
              <a:t>Use case B: Assess an outage</a:t>
            </a:r>
            <a:endParaRPr/>
          </a:p>
          <a:p>
            <a:pPr indent="0" lvl="0" marL="0" marR="0" rtl="0" algn="l">
              <a:lnSpc>
                <a:spcPct val="100000"/>
              </a:lnSpc>
              <a:spcBef>
                <a:spcPts val="500"/>
              </a:spcBef>
              <a:spcAft>
                <a:spcPts val="0"/>
              </a:spcAft>
              <a:buNone/>
            </a:pPr>
            <a:r>
              <a:rPr b="0" i="0" lang="en-GB" sz="1100" u="none" cap="none" strike="noStrike">
                <a:solidFill>
                  <a:srgbClr val="2B3441"/>
                </a:solidFill>
                <a:latin typeface="Arial"/>
                <a:ea typeface="Arial"/>
                <a:cs typeface="Arial"/>
                <a:sym typeface="Arial"/>
              </a:rPr>
              <a:t>User selects a resource → ClusterMind traces downstream relationships and lists potentially affected services.</a:t>
            </a:r>
            <a:endParaRPr/>
          </a:p>
        </p:txBody>
      </p:sp>
      <p:sp>
        <p:nvSpPr>
          <p:cNvPr id="113" name="Google Shape;113;p5"/>
          <p:cNvSpPr txBox="1"/>
          <p:nvPr/>
        </p:nvSpPr>
        <p:spPr>
          <a:xfrm>
            <a:off x="594360" y="4498848"/>
            <a:ext cx="8138160" cy="411480"/>
          </a:xfrm>
          <a:prstGeom prst="rect">
            <a:avLst/>
          </a:prstGeom>
          <a:noFill/>
          <a:ln>
            <a:noFill/>
          </a:ln>
        </p:spPr>
        <p:txBody>
          <a:bodyPr anchorCtr="0" anchor="t" bIns="73150" lIns="73150" spcFirstLastPara="1" rIns="73150" wrap="square" tIns="73150">
            <a:spAutoFit/>
          </a:bodyPr>
          <a:lstStyle/>
          <a:p>
            <a:pPr indent="0" lvl="0" marL="0" marR="0" rtl="0" algn="l">
              <a:lnSpc>
                <a:spcPct val="100000"/>
              </a:lnSpc>
              <a:spcBef>
                <a:spcPts val="0"/>
              </a:spcBef>
              <a:spcAft>
                <a:spcPts val="0"/>
              </a:spcAft>
              <a:buNone/>
            </a:pPr>
            <a:r>
              <a:rPr b="1" i="0" lang="en-GB" sz="1200" u="none" cap="none" strike="noStrike">
                <a:solidFill>
                  <a:srgbClr val="647080"/>
                </a:solidFill>
                <a:latin typeface="Arial"/>
                <a:ea typeface="Arial"/>
                <a:cs typeface="Arial"/>
                <a:sym typeface="Arial"/>
              </a:rPr>
              <a:t>Human remains in control: ClusterMind observes and explains; it does not change cluster resources in the MVP.</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pic>
        <p:nvPicPr>
          <p:cNvPr id="118" name="Google Shape;118;p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19" name="Google Shape;119;p6" title="Group 427319979.png"/>
          <p:cNvPicPr preferRelativeResize="0"/>
          <p:nvPr/>
        </p:nvPicPr>
        <p:blipFill rotWithShape="1">
          <a:blip r:embed="rId4">
            <a:alphaModFix/>
          </a:blip>
          <a:srcRect b="0" l="0" r="0" t="0"/>
          <a:stretch/>
        </p:blipFill>
        <p:spPr>
          <a:xfrm>
            <a:off x="0" y="1"/>
            <a:ext cx="9144000" cy="507359"/>
          </a:xfrm>
          <a:prstGeom prst="rect">
            <a:avLst/>
          </a:prstGeom>
          <a:noFill/>
          <a:ln>
            <a:noFill/>
          </a:ln>
        </p:spPr>
      </p:pic>
      <p:sp>
        <p:nvSpPr>
          <p:cNvPr id="120" name="Google Shape;120;p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6"/>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rgbClr val="000000"/>
                </a:solidFill>
                <a:latin typeface="Google Sans Flex Medium"/>
                <a:ea typeface="Google Sans Flex Medium"/>
                <a:cs typeface="Google Sans Flex Medium"/>
                <a:sym typeface="Google Sans Flex Medium"/>
              </a:rPr>
              <a:t>Wireframes/Mock diagrams of the proposed solution (optional)</a:t>
            </a:r>
            <a:endParaRPr b="0" i="0" sz="1600" u="none" cap="none" strike="noStrike">
              <a:solidFill>
                <a:srgbClr val="000000"/>
              </a:solidFill>
              <a:latin typeface="Google Sans Flex Medium"/>
              <a:ea typeface="Google Sans Flex Medium"/>
              <a:cs typeface="Google Sans Flex Medium"/>
              <a:sym typeface="Google Sans Flex Medium"/>
            </a:endParaRPr>
          </a:p>
        </p:txBody>
      </p:sp>
      <p:sp>
        <p:nvSpPr>
          <p:cNvPr id="122" name="Google Shape;122;p6"/>
          <p:cNvSpPr/>
          <p:nvPr/>
        </p:nvSpPr>
        <p:spPr>
          <a:xfrm>
            <a:off x="411480" y="1325880"/>
            <a:ext cx="8275320" cy="3611880"/>
          </a:xfrm>
          <a:prstGeom prst="roundRect">
            <a:avLst>
              <a:gd fmla="val 16667" name="adj"/>
            </a:avLst>
          </a:prstGeom>
          <a:solidFill>
            <a:srgbClr val="FFFFFF"/>
          </a:solidFill>
          <a:ln cap="flat" cmpd="sng" w="19050">
            <a:solidFill>
              <a:srgbClr val="BECDD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3" name="Google Shape;123;p6"/>
          <p:cNvSpPr txBox="1"/>
          <p:nvPr/>
        </p:nvSpPr>
        <p:spPr>
          <a:xfrm>
            <a:off x="566928" y="1417320"/>
            <a:ext cx="7955279" cy="292608"/>
          </a:xfrm>
          <a:prstGeom prst="rect">
            <a:avLst/>
          </a:prstGeom>
          <a:noFill/>
          <a:ln>
            <a:noFill/>
          </a:ln>
        </p:spPr>
        <p:txBody>
          <a:bodyPr anchorCtr="0" anchor="t" bIns="73150" lIns="73150" spcFirstLastPara="1" rIns="73150" wrap="square" tIns="73150">
            <a:spAutoFit/>
          </a:bodyPr>
          <a:lstStyle/>
          <a:p>
            <a:pPr indent="0" lvl="0" marL="0" marR="0" rtl="0" algn="l">
              <a:lnSpc>
                <a:spcPct val="100000"/>
              </a:lnSpc>
              <a:spcBef>
                <a:spcPts val="0"/>
              </a:spcBef>
              <a:spcAft>
                <a:spcPts val="0"/>
              </a:spcAft>
              <a:buNone/>
            </a:pPr>
            <a:r>
              <a:rPr b="1" i="0" lang="en-GB" sz="1200" u="none" cap="none" strike="noStrike">
                <a:solidFill>
                  <a:srgbClr val="182D4E"/>
                </a:solidFill>
                <a:latin typeface="Arial"/>
                <a:ea typeface="Arial"/>
                <a:cs typeface="Arial"/>
                <a:sym typeface="Arial"/>
              </a:rPr>
              <a:t>ClusterMind  |  Cluster: demo-eks  |  Namespace: payments  |  [Refresh]</a:t>
            </a:r>
            <a:endParaRPr/>
          </a:p>
        </p:txBody>
      </p:sp>
      <p:sp>
        <p:nvSpPr>
          <p:cNvPr id="124" name="Google Shape;124;p6"/>
          <p:cNvSpPr/>
          <p:nvPr/>
        </p:nvSpPr>
        <p:spPr>
          <a:xfrm>
            <a:off x="566928" y="1874519"/>
            <a:ext cx="4800600" cy="2606040"/>
          </a:xfrm>
          <a:prstGeom prst="roundRect">
            <a:avLst>
              <a:gd fmla="val 16667" name="adj"/>
            </a:avLst>
          </a:prstGeom>
          <a:solidFill>
            <a:srgbClr val="EBF3FC"/>
          </a:solidFill>
          <a:ln cap="flat" cmpd="sng" w="16500">
            <a:solidFill>
              <a:srgbClr val="3070C4"/>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73150" lIns="109725" spcFirstLastPara="1" rIns="109725" wrap="square" tIns="91425">
            <a:noAutofit/>
          </a:bodyPr>
          <a:lstStyle/>
          <a:p>
            <a:pPr indent="0" lvl="0" marL="0" marR="0" rtl="0" algn="ctr">
              <a:lnSpc>
                <a:spcPct val="100000"/>
              </a:lnSpc>
              <a:spcBef>
                <a:spcPts val="0"/>
              </a:spcBef>
              <a:spcAft>
                <a:spcPts val="0"/>
              </a:spcAft>
              <a:buNone/>
            </a:pPr>
            <a:r>
              <a:rPr b="1" i="0" lang="en-GB" sz="1400" u="none" cap="none" strike="noStrike">
                <a:solidFill>
                  <a:srgbClr val="3070C4"/>
                </a:solidFill>
                <a:latin typeface="Play"/>
                <a:ea typeface="Play"/>
                <a:cs typeface="Play"/>
                <a:sym typeface="Play"/>
              </a:rPr>
              <a:t>LIVE TOPOLOGY</a:t>
            </a:r>
            <a:endParaRPr/>
          </a:p>
          <a:p>
            <a:pPr indent="0" lvl="0" marL="0" marR="0" rtl="0" algn="l">
              <a:lnSpc>
                <a:spcPct val="100000"/>
              </a:lnSpc>
              <a:spcBef>
                <a:spcPts val="500"/>
              </a:spcBef>
              <a:spcAft>
                <a:spcPts val="0"/>
              </a:spcAft>
              <a:buNone/>
            </a:pPr>
            <a:r>
              <a:rPr b="0" i="0" lang="en-GB" sz="1200" u="none" cap="none" strike="noStrike">
                <a:solidFill>
                  <a:srgbClr val="2B3441"/>
                </a:solidFill>
                <a:latin typeface="Arial"/>
                <a:ea typeface="Arial"/>
                <a:cs typeface="Arial"/>
                <a:sym typeface="Arial"/>
              </a:rPr>
              <a:t>Ingress</a:t>
            </a:r>
            <a:br>
              <a:rPr b="0" i="0" lang="en-GB" sz="1400" u="none" cap="none" strike="noStrike">
                <a:solidFill>
                  <a:schemeClr val="lt1"/>
                </a:solidFill>
                <a:latin typeface="Arial"/>
                <a:ea typeface="Arial"/>
                <a:cs typeface="Arial"/>
                <a:sym typeface="Arial"/>
              </a:rPr>
            </a:br>
            <a:r>
              <a:rPr b="0" i="0" lang="en-GB" sz="1200" u="none" cap="none" strike="noStrike">
                <a:solidFill>
                  <a:srgbClr val="2B3441"/>
                </a:solidFill>
                <a:latin typeface="Arial"/>
                <a:ea typeface="Arial"/>
                <a:cs typeface="Arial"/>
                <a:sym typeface="Arial"/>
              </a:rPr>
              <a:t>  ↓</a:t>
            </a:r>
            <a:br>
              <a:rPr b="0" i="0" lang="en-GB" sz="1400" u="none" cap="none" strike="noStrike">
                <a:solidFill>
                  <a:schemeClr val="lt1"/>
                </a:solidFill>
                <a:latin typeface="Arial"/>
                <a:ea typeface="Arial"/>
                <a:cs typeface="Arial"/>
                <a:sym typeface="Arial"/>
              </a:rPr>
            </a:br>
            <a:r>
              <a:rPr b="0" i="0" lang="en-GB" sz="1200" u="none" cap="none" strike="noStrike">
                <a:solidFill>
                  <a:srgbClr val="2B3441"/>
                </a:solidFill>
                <a:latin typeface="Arial"/>
                <a:ea typeface="Arial"/>
                <a:cs typeface="Arial"/>
                <a:sym typeface="Arial"/>
              </a:rPr>
              <a:t>Service: checkout</a:t>
            </a:r>
            <a:br>
              <a:rPr b="0" i="0" lang="en-GB" sz="1400" u="none" cap="none" strike="noStrike">
                <a:solidFill>
                  <a:schemeClr val="lt1"/>
                </a:solidFill>
                <a:latin typeface="Arial"/>
                <a:ea typeface="Arial"/>
                <a:cs typeface="Arial"/>
                <a:sym typeface="Arial"/>
              </a:rPr>
            </a:br>
            <a:r>
              <a:rPr b="0" i="0" lang="en-GB" sz="1200" u="none" cap="none" strike="noStrike">
                <a:solidFill>
                  <a:srgbClr val="2B3441"/>
                </a:solidFill>
                <a:latin typeface="Arial"/>
                <a:ea typeface="Arial"/>
                <a:cs typeface="Arial"/>
                <a:sym typeface="Arial"/>
              </a:rPr>
              <a:t>  ↓</a:t>
            </a:r>
            <a:br>
              <a:rPr b="0" i="0" lang="en-GB" sz="1400" u="none" cap="none" strike="noStrike">
                <a:solidFill>
                  <a:schemeClr val="lt1"/>
                </a:solidFill>
                <a:latin typeface="Arial"/>
                <a:ea typeface="Arial"/>
                <a:cs typeface="Arial"/>
                <a:sym typeface="Arial"/>
              </a:rPr>
            </a:br>
            <a:r>
              <a:rPr b="0" i="0" lang="en-GB" sz="1200" u="none" cap="none" strike="noStrike">
                <a:solidFill>
                  <a:srgbClr val="2B3441"/>
                </a:solidFill>
                <a:latin typeface="Arial"/>
                <a:ea typeface="Arial"/>
                <a:cs typeface="Arial"/>
                <a:sym typeface="Arial"/>
              </a:rPr>
              <a:t>Deployment: checkout-api</a:t>
            </a:r>
            <a:br>
              <a:rPr b="0" i="0" lang="en-GB" sz="1400" u="none" cap="none" strike="noStrike">
                <a:solidFill>
                  <a:schemeClr val="lt1"/>
                </a:solidFill>
                <a:latin typeface="Arial"/>
                <a:ea typeface="Arial"/>
                <a:cs typeface="Arial"/>
                <a:sym typeface="Arial"/>
              </a:rPr>
            </a:br>
            <a:r>
              <a:rPr b="0" i="0" lang="en-GB" sz="1200" u="none" cap="none" strike="noStrike">
                <a:solidFill>
                  <a:srgbClr val="2B3441"/>
                </a:solidFill>
                <a:latin typeface="Arial"/>
                <a:ea typeface="Arial"/>
                <a:cs typeface="Arial"/>
                <a:sym typeface="Arial"/>
              </a:rPr>
              <a:t>  ↓</a:t>
            </a:r>
            <a:br>
              <a:rPr b="0" i="0" lang="en-GB" sz="1400" u="none" cap="none" strike="noStrike">
                <a:solidFill>
                  <a:schemeClr val="lt1"/>
                </a:solidFill>
                <a:latin typeface="Arial"/>
                <a:ea typeface="Arial"/>
                <a:cs typeface="Arial"/>
                <a:sym typeface="Arial"/>
              </a:rPr>
            </a:br>
            <a:r>
              <a:rPr b="0" i="0" lang="en-GB" sz="1200" u="none" cap="none" strike="noStrike">
                <a:solidFill>
                  <a:srgbClr val="2B3441"/>
                </a:solidFill>
                <a:latin typeface="Arial"/>
                <a:ea typeface="Arial"/>
                <a:cs typeface="Arial"/>
                <a:sym typeface="Arial"/>
              </a:rPr>
              <a:t>Pods: checkout-api-7c9… (3)</a:t>
            </a:r>
            <a:br>
              <a:rPr b="0" i="0" lang="en-GB" sz="1400" u="none" cap="none" strike="noStrike">
                <a:solidFill>
                  <a:schemeClr val="lt1"/>
                </a:solidFill>
                <a:latin typeface="Arial"/>
                <a:ea typeface="Arial"/>
                <a:cs typeface="Arial"/>
                <a:sym typeface="Arial"/>
              </a:rPr>
            </a:br>
            <a:br>
              <a:rPr b="0" i="0" lang="en-GB" sz="1400" u="none" cap="none" strike="noStrike">
                <a:solidFill>
                  <a:schemeClr val="lt1"/>
                </a:solidFill>
                <a:latin typeface="Arial"/>
                <a:ea typeface="Arial"/>
                <a:cs typeface="Arial"/>
                <a:sym typeface="Arial"/>
              </a:rPr>
            </a:br>
            <a:r>
              <a:rPr b="0" i="0" lang="en-GB" sz="1200" u="none" cap="none" strike="noStrike">
                <a:solidFill>
                  <a:srgbClr val="2B3441"/>
                </a:solidFill>
                <a:latin typeface="Arial"/>
                <a:ea typeface="Arial"/>
                <a:cs typeface="Arial"/>
                <a:sym typeface="Arial"/>
              </a:rPr>
              <a:t>Select a node to inspect labels, owner, status, and linked resources.</a:t>
            </a:r>
            <a:endParaRPr/>
          </a:p>
        </p:txBody>
      </p:sp>
      <p:sp>
        <p:nvSpPr>
          <p:cNvPr id="125" name="Google Shape;125;p6"/>
          <p:cNvSpPr/>
          <p:nvPr/>
        </p:nvSpPr>
        <p:spPr>
          <a:xfrm>
            <a:off x="5532120" y="1874519"/>
            <a:ext cx="2907792" cy="1188720"/>
          </a:xfrm>
          <a:prstGeom prst="roundRect">
            <a:avLst>
              <a:gd fmla="val 16667" name="adj"/>
            </a:avLst>
          </a:prstGeom>
          <a:solidFill>
            <a:srgbClr val="F6F9FD"/>
          </a:solidFill>
          <a:ln cap="flat" cmpd="sng" w="16500">
            <a:solidFill>
              <a:srgbClr val="34ACB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73150" lIns="109725" spcFirstLastPara="1" rIns="109725" wrap="square" tIns="91425">
            <a:noAutofit/>
          </a:bodyPr>
          <a:lstStyle/>
          <a:p>
            <a:pPr indent="0" lvl="0" marL="0" marR="0" rtl="0" algn="ctr">
              <a:lnSpc>
                <a:spcPct val="100000"/>
              </a:lnSpc>
              <a:spcBef>
                <a:spcPts val="0"/>
              </a:spcBef>
              <a:spcAft>
                <a:spcPts val="0"/>
              </a:spcAft>
              <a:buNone/>
            </a:pPr>
            <a:r>
              <a:rPr b="1" i="0" lang="en-GB" sz="1300" u="none" cap="none" strike="noStrike">
                <a:solidFill>
                  <a:srgbClr val="34ACBE"/>
                </a:solidFill>
                <a:latin typeface="Play"/>
                <a:ea typeface="Play"/>
                <a:cs typeface="Play"/>
                <a:sym typeface="Play"/>
              </a:rPr>
              <a:t>ASK CLUSTERMIND</a:t>
            </a:r>
            <a:endParaRPr/>
          </a:p>
          <a:p>
            <a:pPr indent="0" lvl="0" marL="0" marR="0" rtl="0" algn="l">
              <a:lnSpc>
                <a:spcPct val="100000"/>
              </a:lnSpc>
              <a:spcBef>
                <a:spcPts val="500"/>
              </a:spcBef>
              <a:spcAft>
                <a:spcPts val="0"/>
              </a:spcAft>
              <a:buNone/>
            </a:pPr>
            <a:r>
              <a:rPr b="0" i="0" lang="en-GB" sz="1100" u="none" cap="none" strike="noStrike">
                <a:solidFill>
                  <a:srgbClr val="2B3441"/>
                </a:solidFill>
                <a:latin typeface="Arial"/>
                <a:ea typeface="Arial"/>
                <a:cs typeface="Arial"/>
                <a:sym typeface="Arial"/>
              </a:rPr>
              <a:t>“What depends on checkout-api?”</a:t>
            </a:r>
            <a:endParaRPr/>
          </a:p>
        </p:txBody>
      </p:sp>
      <p:sp>
        <p:nvSpPr>
          <p:cNvPr id="126" name="Google Shape;126;p6"/>
          <p:cNvSpPr/>
          <p:nvPr/>
        </p:nvSpPr>
        <p:spPr>
          <a:xfrm>
            <a:off x="5532120" y="3273552"/>
            <a:ext cx="2907792" cy="1207008"/>
          </a:xfrm>
          <a:prstGeom prst="roundRect">
            <a:avLst>
              <a:gd fmla="val 16667" name="adj"/>
            </a:avLst>
          </a:prstGeom>
          <a:solidFill>
            <a:srgbClr val="F6F9FD"/>
          </a:solidFill>
          <a:ln cap="flat" cmpd="sng" w="16500">
            <a:solidFill>
              <a:srgbClr val="2A916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73150" lIns="109725" spcFirstLastPara="1" rIns="109725" wrap="square" tIns="91425">
            <a:noAutofit/>
          </a:bodyPr>
          <a:lstStyle/>
          <a:p>
            <a:pPr indent="0" lvl="0" marL="0" marR="0" rtl="0" algn="ctr">
              <a:lnSpc>
                <a:spcPct val="100000"/>
              </a:lnSpc>
              <a:spcBef>
                <a:spcPts val="0"/>
              </a:spcBef>
              <a:spcAft>
                <a:spcPts val="0"/>
              </a:spcAft>
              <a:buNone/>
            </a:pPr>
            <a:r>
              <a:rPr b="1" i="0" lang="en-GB" sz="1300" u="none" cap="none" strike="noStrike">
                <a:solidFill>
                  <a:srgbClr val="2A916C"/>
                </a:solidFill>
                <a:latin typeface="Play"/>
                <a:ea typeface="Play"/>
                <a:cs typeface="Play"/>
                <a:sym typeface="Play"/>
              </a:rPr>
              <a:t>AI INSIGHT</a:t>
            </a:r>
            <a:endParaRPr/>
          </a:p>
          <a:p>
            <a:pPr indent="0" lvl="0" marL="0" marR="0" rtl="0" algn="l">
              <a:lnSpc>
                <a:spcPct val="100000"/>
              </a:lnSpc>
              <a:spcBef>
                <a:spcPts val="500"/>
              </a:spcBef>
              <a:spcAft>
                <a:spcPts val="0"/>
              </a:spcAft>
              <a:buNone/>
            </a:pPr>
            <a:r>
              <a:rPr b="0" i="0" lang="en-GB" sz="1100" u="none" cap="none" strike="noStrike">
                <a:solidFill>
                  <a:srgbClr val="2B3441"/>
                </a:solidFill>
                <a:latin typeface="Arial"/>
                <a:ea typeface="Arial"/>
                <a:cs typeface="Arial"/>
                <a:sym typeface="Arial"/>
              </a:rPr>
              <a:t>2 services may be affected. Evidence: Service selectors and workload ownership. [View graph]</a:t>
            </a:r>
            <a:endParaRPr/>
          </a:p>
        </p:txBody>
      </p:sp>
      <p:sp>
        <p:nvSpPr>
          <p:cNvPr id="127" name="Google Shape;127;p6"/>
          <p:cNvSpPr txBox="1"/>
          <p:nvPr/>
        </p:nvSpPr>
        <p:spPr>
          <a:xfrm>
            <a:off x="594360" y="5010912"/>
            <a:ext cx="7955279" cy="274320"/>
          </a:xfrm>
          <a:prstGeom prst="rect">
            <a:avLst/>
          </a:prstGeom>
          <a:noFill/>
          <a:ln>
            <a:noFill/>
          </a:ln>
        </p:spPr>
        <p:txBody>
          <a:bodyPr anchorCtr="0" anchor="t" bIns="73150" lIns="73150" spcFirstLastPara="1" rIns="73150" wrap="square" tIns="73150">
            <a:spAutoFit/>
          </a:bodyPr>
          <a:lstStyle/>
          <a:p>
            <a:pPr indent="0" lvl="0" marL="0" marR="0" rtl="0" algn="l">
              <a:lnSpc>
                <a:spcPct val="100000"/>
              </a:lnSpc>
              <a:spcBef>
                <a:spcPts val="0"/>
              </a:spcBef>
              <a:spcAft>
                <a:spcPts val="0"/>
              </a:spcAft>
              <a:buNone/>
            </a:pPr>
            <a:r>
              <a:rPr b="0" i="0" lang="en-GB" sz="1000" u="none" cap="none" strike="noStrike">
                <a:solidFill>
                  <a:srgbClr val="647080"/>
                </a:solidFill>
                <a:latin typeface="Arial"/>
                <a:ea typeface="Arial"/>
                <a:cs typeface="Arial"/>
                <a:sym typeface="Arial"/>
              </a:rPr>
              <a:t>Conceptual wireframe only — UI will be refined during implementation.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id="132" name="Google Shape;132;p7"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33" name="Google Shape;133;p7" title="Group 427319979.png"/>
          <p:cNvPicPr preferRelativeResize="0"/>
          <p:nvPr/>
        </p:nvPicPr>
        <p:blipFill rotWithShape="1">
          <a:blip r:embed="rId4">
            <a:alphaModFix/>
          </a:blip>
          <a:srcRect b="0" l="0" r="0" t="0"/>
          <a:stretch/>
        </p:blipFill>
        <p:spPr>
          <a:xfrm>
            <a:off x="0" y="1"/>
            <a:ext cx="9144000" cy="507359"/>
          </a:xfrm>
          <a:prstGeom prst="rect">
            <a:avLst/>
          </a:prstGeom>
          <a:noFill/>
          <a:ln>
            <a:noFill/>
          </a:ln>
        </p:spPr>
      </p:pic>
      <p:sp>
        <p:nvSpPr>
          <p:cNvPr id="134" name="Google Shape;134;p7"/>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7"/>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rgbClr val="000000"/>
                </a:solidFill>
                <a:latin typeface="Google Sans Flex Medium"/>
                <a:ea typeface="Google Sans Flex Medium"/>
                <a:cs typeface="Google Sans Flex Medium"/>
                <a:sym typeface="Google Sans Flex Medium"/>
              </a:rPr>
              <a:t>Architecture diagram of the proposed solution</a:t>
            </a:r>
            <a:endParaRPr b="0" i="0" sz="1600" u="none" cap="none" strike="noStrike">
              <a:solidFill>
                <a:srgbClr val="000000"/>
              </a:solidFill>
              <a:latin typeface="Google Sans Flex Medium"/>
              <a:ea typeface="Google Sans Flex Medium"/>
              <a:cs typeface="Google Sans Flex Medium"/>
              <a:sym typeface="Google Sans Flex Medium"/>
            </a:endParaRPr>
          </a:p>
        </p:txBody>
      </p:sp>
      <p:sp>
        <p:nvSpPr>
          <p:cNvPr id="136" name="Google Shape;136;p7"/>
          <p:cNvSpPr/>
          <p:nvPr/>
        </p:nvSpPr>
        <p:spPr>
          <a:xfrm>
            <a:off x="411480" y="1463040"/>
            <a:ext cx="1828800" cy="914400"/>
          </a:xfrm>
          <a:prstGeom prst="roundRect">
            <a:avLst>
              <a:gd fmla="val 16667" name="adj"/>
            </a:avLst>
          </a:prstGeom>
          <a:solidFill>
            <a:srgbClr val="EBF3FC"/>
          </a:solidFill>
          <a:ln cap="flat" cmpd="sng" w="16500">
            <a:solidFill>
              <a:srgbClr val="3070C4"/>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73150" lIns="109725" spcFirstLastPara="1" rIns="109725" wrap="square" tIns="91425">
            <a:noAutofit/>
          </a:bodyPr>
          <a:lstStyle/>
          <a:p>
            <a:pPr indent="0" lvl="0" marL="0" marR="0" rtl="0" algn="ctr">
              <a:lnSpc>
                <a:spcPct val="100000"/>
              </a:lnSpc>
              <a:spcBef>
                <a:spcPts val="0"/>
              </a:spcBef>
              <a:spcAft>
                <a:spcPts val="0"/>
              </a:spcAft>
              <a:buNone/>
            </a:pPr>
            <a:r>
              <a:rPr b="1" i="0" lang="en-GB" sz="1300" u="none" cap="none" strike="noStrike">
                <a:solidFill>
                  <a:srgbClr val="3070C4"/>
                </a:solidFill>
                <a:latin typeface="Play"/>
                <a:ea typeface="Play"/>
                <a:cs typeface="Play"/>
                <a:sym typeface="Play"/>
              </a:rPr>
              <a:t>User Interface</a:t>
            </a:r>
            <a:endParaRPr/>
          </a:p>
          <a:p>
            <a:pPr indent="0" lvl="0" marL="0" marR="0" rtl="0" algn="l">
              <a:lnSpc>
                <a:spcPct val="100000"/>
              </a:lnSpc>
              <a:spcBef>
                <a:spcPts val="500"/>
              </a:spcBef>
              <a:spcAft>
                <a:spcPts val="0"/>
              </a:spcAft>
              <a:buNone/>
            </a:pPr>
            <a:r>
              <a:rPr b="0" i="0" lang="en-GB" sz="1100" u="none" cap="none" strike="noStrike">
                <a:solidFill>
                  <a:srgbClr val="2B3441"/>
                </a:solidFill>
                <a:latin typeface="Arial"/>
                <a:ea typeface="Arial"/>
                <a:cs typeface="Arial"/>
                <a:sym typeface="Arial"/>
              </a:rPr>
              <a:t>CLI / Web UI</a:t>
            </a:r>
            <a:endParaRPr/>
          </a:p>
        </p:txBody>
      </p:sp>
      <p:sp>
        <p:nvSpPr>
          <p:cNvPr id="137" name="Google Shape;137;p7"/>
          <p:cNvSpPr/>
          <p:nvPr/>
        </p:nvSpPr>
        <p:spPr>
          <a:xfrm>
            <a:off x="2743200" y="1463040"/>
            <a:ext cx="1828800" cy="914400"/>
          </a:xfrm>
          <a:prstGeom prst="roundRect">
            <a:avLst>
              <a:gd fmla="val 16667" name="adj"/>
            </a:avLst>
          </a:prstGeom>
          <a:solidFill>
            <a:srgbClr val="F6F9FD"/>
          </a:solidFill>
          <a:ln cap="flat" cmpd="sng" w="16500">
            <a:solidFill>
              <a:srgbClr val="34ACB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73150" lIns="109725" spcFirstLastPara="1" rIns="109725" wrap="square" tIns="91425">
            <a:noAutofit/>
          </a:bodyPr>
          <a:lstStyle/>
          <a:p>
            <a:pPr indent="0" lvl="0" marL="0" marR="0" rtl="0" algn="ctr">
              <a:lnSpc>
                <a:spcPct val="100000"/>
              </a:lnSpc>
              <a:spcBef>
                <a:spcPts val="0"/>
              </a:spcBef>
              <a:spcAft>
                <a:spcPts val="0"/>
              </a:spcAft>
              <a:buNone/>
            </a:pPr>
            <a:r>
              <a:rPr b="1" i="0" lang="en-GB" sz="1300" u="none" cap="none" strike="noStrike">
                <a:solidFill>
                  <a:srgbClr val="34ACBE"/>
                </a:solidFill>
                <a:latin typeface="Play"/>
                <a:ea typeface="Play"/>
                <a:cs typeface="Play"/>
                <a:sym typeface="Play"/>
              </a:rPr>
              <a:t>API Layer</a:t>
            </a:r>
            <a:endParaRPr/>
          </a:p>
          <a:p>
            <a:pPr indent="0" lvl="0" marL="0" marR="0" rtl="0" algn="l">
              <a:lnSpc>
                <a:spcPct val="100000"/>
              </a:lnSpc>
              <a:spcBef>
                <a:spcPts val="500"/>
              </a:spcBef>
              <a:spcAft>
                <a:spcPts val="0"/>
              </a:spcAft>
              <a:buNone/>
            </a:pPr>
            <a:r>
              <a:rPr b="0" i="0" lang="en-GB" sz="1100" u="none" cap="none" strike="noStrike">
                <a:solidFill>
                  <a:srgbClr val="2B3441"/>
                </a:solidFill>
                <a:latin typeface="Arial"/>
                <a:ea typeface="Arial"/>
                <a:cs typeface="Arial"/>
                <a:sym typeface="Arial"/>
              </a:rPr>
              <a:t>Query + auth scope</a:t>
            </a:r>
            <a:endParaRPr/>
          </a:p>
        </p:txBody>
      </p:sp>
      <p:sp>
        <p:nvSpPr>
          <p:cNvPr id="138" name="Google Shape;138;p7"/>
          <p:cNvSpPr/>
          <p:nvPr/>
        </p:nvSpPr>
        <p:spPr>
          <a:xfrm>
            <a:off x="5074920" y="1463040"/>
            <a:ext cx="1828800" cy="914400"/>
          </a:xfrm>
          <a:prstGeom prst="roundRect">
            <a:avLst>
              <a:gd fmla="val 16667" name="adj"/>
            </a:avLst>
          </a:prstGeom>
          <a:solidFill>
            <a:srgbClr val="EBF3FC"/>
          </a:solidFill>
          <a:ln cap="flat" cmpd="sng" w="16500">
            <a:solidFill>
              <a:srgbClr val="3070C4"/>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73150" lIns="109725" spcFirstLastPara="1" rIns="109725" wrap="square" tIns="91425">
            <a:noAutofit/>
          </a:bodyPr>
          <a:lstStyle/>
          <a:p>
            <a:pPr indent="0" lvl="0" marL="0" marR="0" rtl="0" algn="ctr">
              <a:lnSpc>
                <a:spcPct val="100000"/>
              </a:lnSpc>
              <a:spcBef>
                <a:spcPts val="0"/>
              </a:spcBef>
              <a:spcAft>
                <a:spcPts val="0"/>
              </a:spcAft>
              <a:buNone/>
            </a:pPr>
            <a:r>
              <a:rPr b="1" i="0" lang="en-GB" sz="1300" u="none" cap="none" strike="noStrike">
                <a:solidFill>
                  <a:srgbClr val="3070C4"/>
                </a:solidFill>
                <a:latin typeface="Play"/>
                <a:ea typeface="Play"/>
                <a:cs typeface="Play"/>
                <a:sym typeface="Play"/>
              </a:rPr>
              <a:t>Graph Engine</a:t>
            </a:r>
            <a:endParaRPr/>
          </a:p>
          <a:p>
            <a:pPr indent="0" lvl="0" marL="0" marR="0" rtl="0" algn="l">
              <a:lnSpc>
                <a:spcPct val="100000"/>
              </a:lnSpc>
              <a:spcBef>
                <a:spcPts val="500"/>
              </a:spcBef>
              <a:spcAft>
                <a:spcPts val="0"/>
              </a:spcAft>
              <a:buNone/>
            </a:pPr>
            <a:r>
              <a:rPr b="0" i="0" lang="en-GB" sz="1100" u="none" cap="none" strike="noStrike">
                <a:solidFill>
                  <a:srgbClr val="2B3441"/>
                </a:solidFill>
                <a:latin typeface="Arial"/>
                <a:ea typeface="Arial"/>
                <a:cs typeface="Arial"/>
                <a:sym typeface="Arial"/>
              </a:rPr>
              <a:t>Resource edges</a:t>
            </a:r>
            <a:endParaRPr/>
          </a:p>
        </p:txBody>
      </p:sp>
      <p:sp>
        <p:nvSpPr>
          <p:cNvPr id="139" name="Google Shape;139;p7"/>
          <p:cNvSpPr/>
          <p:nvPr/>
        </p:nvSpPr>
        <p:spPr>
          <a:xfrm>
            <a:off x="7315200" y="1463040"/>
            <a:ext cx="1417320" cy="914400"/>
          </a:xfrm>
          <a:prstGeom prst="roundRect">
            <a:avLst>
              <a:gd fmla="val 16667" name="adj"/>
            </a:avLst>
          </a:prstGeom>
          <a:solidFill>
            <a:srgbClr val="F6F9FD"/>
          </a:solidFill>
          <a:ln cap="flat" cmpd="sng" w="16500">
            <a:solidFill>
              <a:srgbClr val="2A916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73150" lIns="109725" spcFirstLastPara="1" rIns="109725" wrap="square" tIns="91425">
            <a:noAutofit/>
          </a:bodyPr>
          <a:lstStyle/>
          <a:p>
            <a:pPr indent="0" lvl="0" marL="0" marR="0" rtl="0" algn="ctr">
              <a:lnSpc>
                <a:spcPct val="100000"/>
              </a:lnSpc>
              <a:spcBef>
                <a:spcPts val="0"/>
              </a:spcBef>
              <a:spcAft>
                <a:spcPts val="0"/>
              </a:spcAft>
              <a:buNone/>
            </a:pPr>
            <a:r>
              <a:rPr b="1" i="0" lang="en-GB" sz="1300" u="none" cap="none" strike="noStrike">
                <a:solidFill>
                  <a:srgbClr val="2A916C"/>
                </a:solidFill>
                <a:latin typeface="Play"/>
                <a:ea typeface="Play"/>
                <a:cs typeface="Play"/>
                <a:sym typeface="Play"/>
              </a:rPr>
              <a:t>AI Layer</a:t>
            </a:r>
            <a:endParaRPr/>
          </a:p>
          <a:p>
            <a:pPr indent="0" lvl="0" marL="0" marR="0" rtl="0" algn="l">
              <a:lnSpc>
                <a:spcPct val="100000"/>
              </a:lnSpc>
              <a:spcBef>
                <a:spcPts val="500"/>
              </a:spcBef>
              <a:spcAft>
                <a:spcPts val="0"/>
              </a:spcAft>
              <a:buNone/>
            </a:pPr>
            <a:r>
              <a:rPr b="0" i="0" lang="en-GB" sz="1000" u="none" cap="none" strike="noStrike">
                <a:solidFill>
                  <a:srgbClr val="2B3441"/>
                </a:solidFill>
                <a:latin typeface="Arial"/>
                <a:ea typeface="Arial"/>
                <a:cs typeface="Arial"/>
                <a:sym typeface="Arial"/>
              </a:rPr>
              <a:t>Explain / trace</a:t>
            </a:r>
            <a:endParaRPr/>
          </a:p>
        </p:txBody>
      </p:sp>
      <p:cxnSp>
        <p:nvCxnSpPr>
          <p:cNvPr id="140" name="Google Shape;140;p7"/>
          <p:cNvCxnSpPr/>
          <p:nvPr/>
        </p:nvCxnSpPr>
        <p:spPr>
          <a:xfrm>
            <a:off x="2240280" y="1920240"/>
            <a:ext cx="475488" cy="0"/>
          </a:xfrm>
          <a:prstGeom prst="straightConnector1">
            <a:avLst/>
          </a:prstGeom>
          <a:noFill/>
          <a:ln cap="flat" cmpd="sng" w="25400">
            <a:solidFill>
              <a:srgbClr val="3070C4"/>
            </a:solidFill>
            <a:prstDash val="solid"/>
            <a:round/>
            <a:headEnd len="sm" w="sm" type="none"/>
            <a:tailEnd len="sm" w="sm" type="none"/>
          </a:ln>
          <a:effectLst>
            <a:outerShdw blurRad="40000" rotWithShape="0" dir="5400000" dist="20000">
              <a:srgbClr val="000000">
                <a:alpha val="38039"/>
              </a:srgbClr>
            </a:outerShdw>
          </a:effectLst>
        </p:spPr>
      </p:cxnSp>
      <p:cxnSp>
        <p:nvCxnSpPr>
          <p:cNvPr id="141" name="Google Shape;141;p7"/>
          <p:cNvCxnSpPr/>
          <p:nvPr/>
        </p:nvCxnSpPr>
        <p:spPr>
          <a:xfrm>
            <a:off x="4572000" y="1920240"/>
            <a:ext cx="475488" cy="0"/>
          </a:xfrm>
          <a:prstGeom prst="straightConnector1">
            <a:avLst/>
          </a:prstGeom>
          <a:noFill/>
          <a:ln cap="flat" cmpd="sng" w="25400">
            <a:solidFill>
              <a:srgbClr val="3070C4"/>
            </a:solidFill>
            <a:prstDash val="solid"/>
            <a:round/>
            <a:headEnd len="sm" w="sm" type="none"/>
            <a:tailEnd len="sm" w="sm" type="none"/>
          </a:ln>
          <a:effectLst>
            <a:outerShdw blurRad="40000" rotWithShape="0" dir="5400000" dist="20000">
              <a:srgbClr val="000000">
                <a:alpha val="38039"/>
              </a:srgbClr>
            </a:outerShdw>
          </a:effectLst>
        </p:spPr>
      </p:cxnSp>
      <p:cxnSp>
        <p:nvCxnSpPr>
          <p:cNvPr id="142" name="Google Shape;142;p7"/>
          <p:cNvCxnSpPr/>
          <p:nvPr/>
        </p:nvCxnSpPr>
        <p:spPr>
          <a:xfrm>
            <a:off x="6903720" y="1920240"/>
            <a:ext cx="384048" cy="0"/>
          </a:xfrm>
          <a:prstGeom prst="straightConnector1">
            <a:avLst/>
          </a:prstGeom>
          <a:noFill/>
          <a:ln cap="flat" cmpd="sng" w="25400">
            <a:solidFill>
              <a:srgbClr val="3070C4"/>
            </a:solidFill>
            <a:prstDash val="solid"/>
            <a:round/>
            <a:headEnd len="sm" w="sm" type="none"/>
            <a:tailEnd len="sm" w="sm" type="none"/>
          </a:ln>
          <a:effectLst>
            <a:outerShdw blurRad="40000" rotWithShape="0" dir="5400000" dist="20000">
              <a:srgbClr val="000000">
                <a:alpha val="38039"/>
              </a:srgbClr>
            </a:outerShdw>
          </a:effectLst>
        </p:spPr>
      </p:cxnSp>
      <p:sp>
        <p:nvSpPr>
          <p:cNvPr id="143" name="Google Shape;143;p7"/>
          <p:cNvSpPr/>
          <p:nvPr/>
        </p:nvSpPr>
        <p:spPr>
          <a:xfrm>
            <a:off x="1051560" y="3154680"/>
            <a:ext cx="2057400" cy="1051560"/>
          </a:xfrm>
          <a:prstGeom prst="roundRect">
            <a:avLst>
              <a:gd fmla="val 16667" name="adj"/>
            </a:avLst>
          </a:prstGeom>
          <a:solidFill>
            <a:srgbClr val="F6F9FD"/>
          </a:solidFill>
          <a:ln cap="flat" cmpd="sng" w="16500">
            <a:solidFill>
              <a:srgbClr val="34ACB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73150" lIns="109725" spcFirstLastPara="1" rIns="109725" wrap="square" tIns="91425">
            <a:noAutofit/>
          </a:bodyPr>
          <a:lstStyle/>
          <a:p>
            <a:pPr indent="0" lvl="0" marL="0" marR="0" rtl="0" algn="ctr">
              <a:lnSpc>
                <a:spcPct val="100000"/>
              </a:lnSpc>
              <a:spcBef>
                <a:spcPts val="0"/>
              </a:spcBef>
              <a:spcAft>
                <a:spcPts val="0"/>
              </a:spcAft>
              <a:buNone/>
            </a:pPr>
            <a:r>
              <a:rPr b="1" i="0" lang="en-GB" sz="1300" u="none" cap="none" strike="noStrike">
                <a:solidFill>
                  <a:srgbClr val="34ACBE"/>
                </a:solidFill>
                <a:latin typeface="Play"/>
                <a:ea typeface="Play"/>
                <a:cs typeface="Play"/>
                <a:sym typeface="Play"/>
              </a:rPr>
              <a:t>Kubernetes API</a:t>
            </a:r>
            <a:endParaRPr/>
          </a:p>
          <a:p>
            <a:pPr indent="0" lvl="0" marL="0" marR="0" rtl="0" algn="l">
              <a:lnSpc>
                <a:spcPct val="100000"/>
              </a:lnSpc>
              <a:spcBef>
                <a:spcPts val="500"/>
              </a:spcBef>
              <a:spcAft>
                <a:spcPts val="0"/>
              </a:spcAft>
              <a:buNone/>
            </a:pPr>
            <a:r>
              <a:rPr b="0" i="0" lang="en-GB" sz="1100" u="none" cap="none" strike="noStrike">
                <a:solidFill>
                  <a:srgbClr val="2B3441"/>
                </a:solidFill>
                <a:latin typeface="Arial"/>
                <a:ea typeface="Arial"/>
                <a:cs typeface="Arial"/>
                <a:sym typeface="Arial"/>
              </a:rPr>
              <a:t>Read-only resource discovery</a:t>
            </a:r>
            <a:endParaRPr/>
          </a:p>
        </p:txBody>
      </p:sp>
      <p:sp>
        <p:nvSpPr>
          <p:cNvPr id="144" name="Google Shape;144;p7"/>
          <p:cNvSpPr/>
          <p:nvPr/>
        </p:nvSpPr>
        <p:spPr>
          <a:xfrm>
            <a:off x="3566160" y="3154680"/>
            <a:ext cx="2057400" cy="1051560"/>
          </a:xfrm>
          <a:prstGeom prst="roundRect">
            <a:avLst>
              <a:gd fmla="val 16667" name="adj"/>
            </a:avLst>
          </a:prstGeom>
          <a:solidFill>
            <a:srgbClr val="F6F9FD"/>
          </a:solidFill>
          <a:ln cap="flat" cmpd="sng" w="16500">
            <a:solidFill>
              <a:srgbClr val="DC8B3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73150" lIns="109725" spcFirstLastPara="1" rIns="109725" wrap="square" tIns="91425">
            <a:noAutofit/>
          </a:bodyPr>
          <a:lstStyle/>
          <a:p>
            <a:pPr indent="0" lvl="0" marL="0" marR="0" rtl="0" algn="ctr">
              <a:lnSpc>
                <a:spcPct val="100000"/>
              </a:lnSpc>
              <a:spcBef>
                <a:spcPts val="0"/>
              </a:spcBef>
              <a:spcAft>
                <a:spcPts val="0"/>
              </a:spcAft>
              <a:buNone/>
            </a:pPr>
            <a:r>
              <a:rPr b="1" i="0" lang="en-GB" sz="1300" u="none" cap="none" strike="noStrike">
                <a:solidFill>
                  <a:srgbClr val="DC8B32"/>
                </a:solidFill>
                <a:latin typeface="Play"/>
                <a:ea typeface="Play"/>
                <a:cs typeface="Play"/>
                <a:sym typeface="Play"/>
              </a:rPr>
              <a:t>Optional Metrics</a:t>
            </a:r>
            <a:endParaRPr/>
          </a:p>
          <a:p>
            <a:pPr indent="0" lvl="0" marL="0" marR="0" rtl="0" algn="l">
              <a:lnSpc>
                <a:spcPct val="100000"/>
              </a:lnSpc>
              <a:spcBef>
                <a:spcPts val="500"/>
              </a:spcBef>
              <a:spcAft>
                <a:spcPts val="0"/>
              </a:spcAft>
              <a:buNone/>
            </a:pPr>
            <a:r>
              <a:rPr b="0" i="0" lang="en-GB" sz="1100" u="none" cap="none" strike="noStrike">
                <a:solidFill>
                  <a:srgbClr val="2B3441"/>
                </a:solidFill>
                <a:latin typeface="Arial"/>
                <a:ea typeface="Arial"/>
                <a:cs typeface="Arial"/>
                <a:sym typeface="Arial"/>
              </a:rPr>
              <a:t>Prometheus / Metrics Server</a:t>
            </a:r>
            <a:endParaRPr/>
          </a:p>
        </p:txBody>
      </p:sp>
      <p:sp>
        <p:nvSpPr>
          <p:cNvPr id="145" name="Google Shape;145;p7"/>
          <p:cNvSpPr/>
          <p:nvPr/>
        </p:nvSpPr>
        <p:spPr>
          <a:xfrm>
            <a:off x="6080760" y="3154680"/>
            <a:ext cx="2057400" cy="1051560"/>
          </a:xfrm>
          <a:prstGeom prst="roundRect">
            <a:avLst>
              <a:gd fmla="val 16667" name="adj"/>
            </a:avLst>
          </a:prstGeom>
          <a:solidFill>
            <a:srgbClr val="F6F9FD"/>
          </a:solidFill>
          <a:ln cap="flat" cmpd="sng" w="16500">
            <a:solidFill>
              <a:srgbClr val="2A916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73150" lIns="109725" spcFirstLastPara="1" rIns="109725" wrap="square" tIns="91425">
            <a:noAutofit/>
          </a:bodyPr>
          <a:lstStyle/>
          <a:p>
            <a:pPr indent="0" lvl="0" marL="0" marR="0" rtl="0" algn="ctr">
              <a:lnSpc>
                <a:spcPct val="100000"/>
              </a:lnSpc>
              <a:spcBef>
                <a:spcPts val="0"/>
              </a:spcBef>
              <a:spcAft>
                <a:spcPts val="0"/>
              </a:spcAft>
              <a:buNone/>
            </a:pPr>
            <a:r>
              <a:rPr b="1" i="0" lang="en-GB" sz="1300" u="none" cap="none" strike="noStrike">
                <a:solidFill>
                  <a:srgbClr val="2A916C"/>
                </a:solidFill>
                <a:latin typeface="Play"/>
                <a:ea typeface="Play"/>
                <a:cs typeface="Play"/>
                <a:sym typeface="Play"/>
              </a:rPr>
              <a:t>LLM Provider</a:t>
            </a:r>
            <a:endParaRPr/>
          </a:p>
          <a:p>
            <a:pPr indent="0" lvl="0" marL="0" marR="0" rtl="0" algn="l">
              <a:lnSpc>
                <a:spcPct val="100000"/>
              </a:lnSpc>
              <a:spcBef>
                <a:spcPts val="500"/>
              </a:spcBef>
              <a:spcAft>
                <a:spcPts val="0"/>
              </a:spcAft>
              <a:buNone/>
            </a:pPr>
            <a:r>
              <a:rPr b="0" i="0" lang="en-GB" sz="1100" u="none" cap="none" strike="noStrike">
                <a:solidFill>
                  <a:srgbClr val="2B3441"/>
                </a:solidFill>
                <a:latin typeface="Arial"/>
                <a:ea typeface="Arial"/>
                <a:cs typeface="Arial"/>
                <a:sym typeface="Arial"/>
              </a:rPr>
              <a:t>Pluggable API adapter</a:t>
            </a:r>
            <a:endParaRPr/>
          </a:p>
        </p:txBody>
      </p:sp>
      <p:cxnSp>
        <p:nvCxnSpPr>
          <p:cNvPr id="146" name="Google Shape;146;p7"/>
          <p:cNvCxnSpPr/>
          <p:nvPr/>
        </p:nvCxnSpPr>
        <p:spPr>
          <a:xfrm flipH="1">
            <a:off x="2148840" y="2423160"/>
            <a:ext cx="1508760" cy="704088"/>
          </a:xfrm>
          <a:prstGeom prst="straightConnector1">
            <a:avLst/>
          </a:prstGeom>
          <a:noFill/>
          <a:ln cap="flat" cmpd="sng" w="25400">
            <a:solidFill>
              <a:srgbClr val="3070C4"/>
            </a:solidFill>
            <a:prstDash val="solid"/>
            <a:round/>
            <a:headEnd len="sm" w="sm" type="none"/>
            <a:tailEnd len="sm" w="sm" type="none"/>
          </a:ln>
          <a:effectLst>
            <a:outerShdw blurRad="40000" rotWithShape="0" dir="5400000" dist="20000">
              <a:srgbClr val="000000">
                <a:alpha val="38039"/>
              </a:srgbClr>
            </a:outerShdw>
          </a:effectLst>
        </p:spPr>
      </p:cxnSp>
      <p:cxnSp>
        <p:nvCxnSpPr>
          <p:cNvPr id="147" name="Google Shape;147;p7"/>
          <p:cNvCxnSpPr/>
          <p:nvPr/>
        </p:nvCxnSpPr>
        <p:spPr>
          <a:xfrm flipH="1">
            <a:off x="4617720" y="2423160"/>
            <a:ext cx="1143000" cy="704088"/>
          </a:xfrm>
          <a:prstGeom prst="straightConnector1">
            <a:avLst/>
          </a:prstGeom>
          <a:noFill/>
          <a:ln cap="flat" cmpd="sng" w="25400">
            <a:solidFill>
              <a:srgbClr val="3070C4"/>
            </a:solidFill>
            <a:prstDash val="solid"/>
            <a:round/>
            <a:headEnd len="sm" w="sm" type="none"/>
            <a:tailEnd len="sm" w="sm" type="none"/>
          </a:ln>
          <a:effectLst>
            <a:outerShdw blurRad="40000" rotWithShape="0" dir="5400000" dist="20000">
              <a:srgbClr val="000000">
                <a:alpha val="38039"/>
              </a:srgbClr>
            </a:outerShdw>
          </a:effectLst>
        </p:spPr>
      </p:cxnSp>
      <p:cxnSp>
        <p:nvCxnSpPr>
          <p:cNvPr id="148" name="Google Shape;148;p7"/>
          <p:cNvCxnSpPr/>
          <p:nvPr/>
        </p:nvCxnSpPr>
        <p:spPr>
          <a:xfrm flipH="1">
            <a:off x="7132320" y="2423160"/>
            <a:ext cx="868680" cy="704088"/>
          </a:xfrm>
          <a:prstGeom prst="straightConnector1">
            <a:avLst/>
          </a:prstGeom>
          <a:noFill/>
          <a:ln cap="flat" cmpd="sng" w="25400">
            <a:solidFill>
              <a:srgbClr val="3070C4"/>
            </a:solidFill>
            <a:prstDash val="solid"/>
            <a:round/>
            <a:headEnd len="sm" w="sm" type="none"/>
            <a:tailEnd len="sm" w="sm" type="none"/>
          </a:ln>
          <a:effectLst>
            <a:outerShdw blurRad="40000" rotWithShape="0" dir="5400000" dist="20000">
              <a:srgbClr val="000000">
                <a:alpha val="38039"/>
              </a:srgbClr>
            </a:outerShdw>
          </a:effectLst>
        </p:spPr>
      </p:cxnSp>
      <p:sp>
        <p:nvSpPr>
          <p:cNvPr id="149" name="Google Shape;149;p7"/>
          <p:cNvSpPr txBox="1"/>
          <p:nvPr/>
        </p:nvSpPr>
        <p:spPr>
          <a:xfrm>
            <a:off x="640080" y="4480560"/>
            <a:ext cx="8046720" cy="365760"/>
          </a:xfrm>
          <a:prstGeom prst="rect">
            <a:avLst/>
          </a:prstGeom>
          <a:noFill/>
          <a:ln>
            <a:noFill/>
          </a:ln>
        </p:spPr>
        <p:txBody>
          <a:bodyPr anchorCtr="0" anchor="t" bIns="73150" lIns="73150" spcFirstLastPara="1" rIns="73150" wrap="square" tIns="73150">
            <a:spAutoFit/>
          </a:bodyPr>
          <a:lstStyle/>
          <a:p>
            <a:pPr indent="0" lvl="0" marL="0" marR="0" rtl="0" algn="l">
              <a:lnSpc>
                <a:spcPct val="100000"/>
              </a:lnSpc>
              <a:spcBef>
                <a:spcPts val="0"/>
              </a:spcBef>
              <a:spcAft>
                <a:spcPts val="0"/>
              </a:spcAft>
              <a:buNone/>
            </a:pPr>
            <a:r>
              <a:rPr b="1" i="0" lang="en-GB" sz="1200" u="none" cap="none" strike="noStrike">
                <a:solidFill>
                  <a:srgbClr val="182D4E"/>
                </a:solidFill>
                <a:latin typeface="Arial"/>
                <a:ea typeface="Arial"/>
                <a:cs typeface="Arial"/>
                <a:sym typeface="Arial"/>
              </a:rPr>
              <a:t>Security boundary: least-privilege RBAC, namespace scoping, secret redaction, and no write permissions in the MVP.</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pic>
        <p:nvPicPr>
          <p:cNvPr id="154" name="Google Shape;154;p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55" name="Google Shape;155;p8" title="Group 427319979.png"/>
          <p:cNvPicPr preferRelativeResize="0"/>
          <p:nvPr/>
        </p:nvPicPr>
        <p:blipFill rotWithShape="1">
          <a:blip r:embed="rId4">
            <a:alphaModFix/>
          </a:blip>
          <a:srcRect b="0" l="0" r="0" t="0"/>
          <a:stretch/>
        </p:blipFill>
        <p:spPr>
          <a:xfrm>
            <a:off x="0" y="1"/>
            <a:ext cx="9144000" cy="507359"/>
          </a:xfrm>
          <a:prstGeom prst="rect">
            <a:avLst/>
          </a:prstGeom>
          <a:noFill/>
          <a:ln>
            <a:noFill/>
          </a:ln>
        </p:spPr>
      </p:pic>
      <p:sp>
        <p:nvSpPr>
          <p:cNvPr id="156" name="Google Shape;156;p8"/>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8"/>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rgbClr val="000000"/>
                </a:solidFill>
                <a:latin typeface="Google Sans Flex Medium"/>
                <a:ea typeface="Google Sans Flex Medium"/>
                <a:cs typeface="Google Sans Flex Medium"/>
                <a:sym typeface="Google Sans Flex Medium"/>
              </a:rPr>
              <a:t>Technologies to be used in the solution</a:t>
            </a:r>
            <a:endParaRPr b="0" i="0" sz="1600" u="none" cap="none" strike="noStrike">
              <a:solidFill>
                <a:srgbClr val="000000"/>
              </a:solidFill>
              <a:latin typeface="Google Sans Flex Medium"/>
              <a:ea typeface="Google Sans Flex Medium"/>
              <a:cs typeface="Google Sans Flex Medium"/>
              <a:sym typeface="Google Sans Flex Medium"/>
            </a:endParaRPr>
          </a:p>
        </p:txBody>
      </p:sp>
      <p:sp>
        <p:nvSpPr>
          <p:cNvPr id="158" name="Google Shape;158;p8"/>
          <p:cNvSpPr/>
          <p:nvPr/>
        </p:nvSpPr>
        <p:spPr>
          <a:xfrm>
            <a:off x="502920" y="1417320"/>
            <a:ext cx="2057400" cy="411480"/>
          </a:xfrm>
          <a:prstGeom prst="roundRect">
            <a:avLst>
              <a:gd fmla="val 16667" name="adj"/>
            </a:avLst>
          </a:prstGeom>
          <a:solidFill>
            <a:srgbClr val="EBF3FC"/>
          </a:solidFill>
          <a:ln cap="flat" cmpd="sng" w="16500">
            <a:solidFill>
              <a:srgbClr val="3070C4"/>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73150" lIns="109725" spcFirstLastPara="1" rIns="109725" wrap="square" tIns="91425">
            <a:noAutofit/>
          </a:bodyPr>
          <a:lstStyle/>
          <a:p>
            <a:pPr indent="0" lvl="0" marL="0" marR="0" rtl="0" algn="ctr">
              <a:lnSpc>
                <a:spcPct val="100000"/>
              </a:lnSpc>
              <a:spcBef>
                <a:spcPts val="0"/>
              </a:spcBef>
              <a:spcAft>
                <a:spcPts val="0"/>
              </a:spcAft>
              <a:buNone/>
            </a:pPr>
            <a:r>
              <a:rPr b="1" i="0" lang="en-GB" sz="1100" u="none" cap="none" strike="noStrike">
                <a:solidFill>
                  <a:srgbClr val="3070C4"/>
                </a:solidFill>
                <a:latin typeface="Play"/>
                <a:ea typeface="Play"/>
                <a:cs typeface="Play"/>
                <a:sym typeface="Play"/>
              </a:rPr>
              <a:t>Language &amp; Runtime</a:t>
            </a:r>
            <a:endParaRPr/>
          </a:p>
          <a:p>
            <a:pPr indent="0" lvl="0" marL="0" marR="0" rtl="0" algn="l">
              <a:lnSpc>
                <a:spcPct val="100000"/>
              </a:lnSpc>
              <a:spcBef>
                <a:spcPts val="500"/>
              </a:spcBef>
              <a:spcAft>
                <a:spcPts val="0"/>
              </a:spcAft>
              <a:buNone/>
            </a:pPr>
            <a:r>
              <a:t/>
            </a:r>
            <a:endParaRPr b="1" i="0" sz="1100" u="none" cap="none" strike="noStrike">
              <a:solidFill>
                <a:srgbClr val="3070C4"/>
              </a:solidFill>
              <a:latin typeface="Play"/>
              <a:ea typeface="Play"/>
              <a:cs typeface="Play"/>
              <a:sym typeface="Play"/>
            </a:endParaRPr>
          </a:p>
        </p:txBody>
      </p:sp>
      <p:sp>
        <p:nvSpPr>
          <p:cNvPr id="159" name="Google Shape;159;p8"/>
          <p:cNvSpPr/>
          <p:nvPr/>
        </p:nvSpPr>
        <p:spPr>
          <a:xfrm>
            <a:off x="2724912" y="1417320"/>
            <a:ext cx="5852160" cy="411480"/>
          </a:xfrm>
          <a:prstGeom prst="roundRect">
            <a:avLst>
              <a:gd fmla="val 16667" name="adj"/>
            </a:avLst>
          </a:prstGeom>
          <a:solidFill>
            <a:srgbClr val="F6F9FD"/>
          </a:solidFill>
          <a:ln cap="flat" cmpd="sng" w="16500">
            <a:solidFill>
              <a:srgbClr val="34ACB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73150" lIns="109725" spcFirstLastPara="1" rIns="109725" wrap="square" tIns="91425">
            <a:noAutofit/>
          </a:bodyPr>
          <a:lstStyle/>
          <a:p>
            <a:pPr indent="0" lvl="0" marL="0" marR="0" rtl="0" algn="ctr">
              <a:lnSpc>
                <a:spcPct val="100000"/>
              </a:lnSpc>
              <a:spcBef>
                <a:spcPts val="0"/>
              </a:spcBef>
              <a:spcAft>
                <a:spcPts val="0"/>
              </a:spcAft>
              <a:buNone/>
            </a:pPr>
            <a:r>
              <a:rPr b="1" i="0" lang="en-GB" sz="1100" u="none" cap="none" strike="noStrike">
                <a:solidFill>
                  <a:srgbClr val="34ACBE"/>
                </a:solidFill>
                <a:latin typeface="Play"/>
                <a:ea typeface="Play"/>
                <a:cs typeface="Play"/>
                <a:sym typeface="Play"/>
              </a:rPr>
              <a:t>TypeScript, Node.js</a:t>
            </a:r>
            <a:endParaRPr/>
          </a:p>
          <a:p>
            <a:pPr indent="0" lvl="0" marL="0" marR="0" rtl="0" algn="l">
              <a:lnSpc>
                <a:spcPct val="100000"/>
              </a:lnSpc>
              <a:spcBef>
                <a:spcPts val="500"/>
              </a:spcBef>
              <a:spcAft>
                <a:spcPts val="0"/>
              </a:spcAft>
              <a:buNone/>
            </a:pPr>
            <a:r>
              <a:t/>
            </a:r>
            <a:endParaRPr b="1" i="0" sz="1100" u="none" cap="none" strike="noStrike">
              <a:solidFill>
                <a:srgbClr val="34ACBE"/>
              </a:solidFill>
              <a:latin typeface="Play"/>
              <a:ea typeface="Play"/>
              <a:cs typeface="Play"/>
              <a:sym typeface="Play"/>
            </a:endParaRPr>
          </a:p>
        </p:txBody>
      </p:sp>
      <p:sp>
        <p:nvSpPr>
          <p:cNvPr id="160" name="Google Shape;160;p8"/>
          <p:cNvSpPr/>
          <p:nvPr/>
        </p:nvSpPr>
        <p:spPr>
          <a:xfrm>
            <a:off x="502920" y="1901952"/>
            <a:ext cx="2057400" cy="411480"/>
          </a:xfrm>
          <a:prstGeom prst="roundRect">
            <a:avLst>
              <a:gd fmla="val 16667" name="adj"/>
            </a:avLst>
          </a:prstGeom>
          <a:solidFill>
            <a:srgbClr val="EBF3FC"/>
          </a:solidFill>
          <a:ln cap="flat" cmpd="sng" w="16500">
            <a:solidFill>
              <a:srgbClr val="3070C4"/>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73150" lIns="109725" spcFirstLastPara="1" rIns="109725" wrap="square" tIns="91425">
            <a:noAutofit/>
          </a:bodyPr>
          <a:lstStyle/>
          <a:p>
            <a:pPr indent="0" lvl="0" marL="0" marR="0" rtl="0" algn="ctr">
              <a:lnSpc>
                <a:spcPct val="100000"/>
              </a:lnSpc>
              <a:spcBef>
                <a:spcPts val="0"/>
              </a:spcBef>
              <a:spcAft>
                <a:spcPts val="0"/>
              </a:spcAft>
              <a:buNone/>
            </a:pPr>
            <a:r>
              <a:rPr b="1" i="0" lang="en-GB" sz="1100" u="none" cap="none" strike="noStrike">
                <a:solidFill>
                  <a:srgbClr val="3070C4"/>
                </a:solidFill>
                <a:latin typeface="Play"/>
                <a:ea typeface="Play"/>
                <a:cs typeface="Play"/>
                <a:sym typeface="Play"/>
              </a:rPr>
              <a:t>Kubernetes Integration</a:t>
            </a:r>
            <a:endParaRPr/>
          </a:p>
          <a:p>
            <a:pPr indent="0" lvl="0" marL="0" marR="0" rtl="0" algn="l">
              <a:lnSpc>
                <a:spcPct val="100000"/>
              </a:lnSpc>
              <a:spcBef>
                <a:spcPts val="500"/>
              </a:spcBef>
              <a:spcAft>
                <a:spcPts val="0"/>
              </a:spcAft>
              <a:buNone/>
            </a:pPr>
            <a:r>
              <a:t/>
            </a:r>
            <a:endParaRPr b="1" i="0" sz="1100" u="none" cap="none" strike="noStrike">
              <a:solidFill>
                <a:srgbClr val="3070C4"/>
              </a:solidFill>
              <a:latin typeface="Play"/>
              <a:ea typeface="Play"/>
              <a:cs typeface="Play"/>
              <a:sym typeface="Play"/>
            </a:endParaRPr>
          </a:p>
        </p:txBody>
      </p:sp>
      <p:sp>
        <p:nvSpPr>
          <p:cNvPr id="161" name="Google Shape;161;p8"/>
          <p:cNvSpPr/>
          <p:nvPr/>
        </p:nvSpPr>
        <p:spPr>
          <a:xfrm>
            <a:off x="2724912" y="1901952"/>
            <a:ext cx="5852160" cy="411480"/>
          </a:xfrm>
          <a:prstGeom prst="roundRect">
            <a:avLst>
              <a:gd fmla="val 16667" name="adj"/>
            </a:avLst>
          </a:prstGeom>
          <a:solidFill>
            <a:srgbClr val="F6F9FD"/>
          </a:solidFill>
          <a:ln cap="flat" cmpd="sng" w="16500">
            <a:solidFill>
              <a:srgbClr val="34ACB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73150" lIns="109725" spcFirstLastPara="1" rIns="109725" wrap="square" tIns="91425">
            <a:noAutofit/>
          </a:bodyPr>
          <a:lstStyle/>
          <a:p>
            <a:pPr indent="0" lvl="0" marL="0" marR="0" rtl="0" algn="ctr">
              <a:lnSpc>
                <a:spcPct val="100000"/>
              </a:lnSpc>
              <a:spcBef>
                <a:spcPts val="0"/>
              </a:spcBef>
              <a:spcAft>
                <a:spcPts val="0"/>
              </a:spcAft>
              <a:buNone/>
            </a:pPr>
            <a:r>
              <a:rPr b="1" i="0" lang="en-GB" sz="1100" u="none" cap="none" strike="noStrike">
                <a:solidFill>
                  <a:srgbClr val="34ACBE"/>
                </a:solidFill>
                <a:latin typeface="Play"/>
                <a:ea typeface="Play"/>
                <a:cs typeface="Play"/>
                <a:sym typeface="Play"/>
              </a:rPr>
              <a:t>Kubernetes API, @kubernetes/client-node, RBAC</a:t>
            </a:r>
            <a:endParaRPr/>
          </a:p>
          <a:p>
            <a:pPr indent="0" lvl="0" marL="0" marR="0" rtl="0" algn="l">
              <a:lnSpc>
                <a:spcPct val="100000"/>
              </a:lnSpc>
              <a:spcBef>
                <a:spcPts val="500"/>
              </a:spcBef>
              <a:spcAft>
                <a:spcPts val="0"/>
              </a:spcAft>
              <a:buNone/>
            </a:pPr>
            <a:r>
              <a:t/>
            </a:r>
            <a:endParaRPr b="1" i="0" sz="1100" u="none" cap="none" strike="noStrike">
              <a:solidFill>
                <a:srgbClr val="34ACBE"/>
              </a:solidFill>
              <a:latin typeface="Play"/>
              <a:ea typeface="Play"/>
              <a:cs typeface="Play"/>
              <a:sym typeface="Play"/>
            </a:endParaRPr>
          </a:p>
        </p:txBody>
      </p:sp>
      <p:sp>
        <p:nvSpPr>
          <p:cNvPr id="162" name="Google Shape;162;p8"/>
          <p:cNvSpPr/>
          <p:nvPr/>
        </p:nvSpPr>
        <p:spPr>
          <a:xfrm>
            <a:off x="502920" y="2386584"/>
            <a:ext cx="2057400" cy="411480"/>
          </a:xfrm>
          <a:prstGeom prst="roundRect">
            <a:avLst>
              <a:gd fmla="val 16667" name="adj"/>
            </a:avLst>
          </a:prstGeom>
          <a:solidFill>
            <a:srgbClr val="EBF3FC"/>
          </a:solidFill>
          <a:ln cap="flat" cmpd="sng" w="16500">
            <a:solidFill>
              <a:srgbClr val="3070C4"/>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73150" lIns="109725" spcFirstLastPara="1" rIns="109725" wrap="square" tIns="91425">
            <a:noAutofit/>
          </a:bodyPr>
          <a:lstStyle/>
          <a:p>
            <a:pPr indent="0" lvl="0" marL="0" marR="0" rtl="0" algn="ctr">
              <a:lnSpc>
                <a:spcPct val="100000"/>
              </a:lnSpc>
              <a:spcBef>
                <a:spcPts val="0"/>
              </a:spcBef>
              <a:spcAft>
                <a:spcPts val="0"/>
              </a:spcAft>
              <a:buNone/>
            </a:pPr>
            <a:r>
              <a:rPr b="1" i="0" lang="en-GB" sz="1100" u="none" cap="none" strike="noStrike">
                <a:solidFill>
                  <a:srgbClr val="3070C4"/>
                </a:solidFill>
                <a:latin typeface="Play"/>
                <a:ea typeface="Play"/>
                <a:cs typeface="Play"/>
                <a:sym typeface="Play"/>
              </a:rPr>
              <a:t>Graph Processing</a:t>
            </a:r>
            <a:endParaRPr/>
          </a:p>
          <a:p>
            <a:pPr indent="0" lvl="0" marL="0" marR="0" rtl="0" algn="l">
              <a:lnSpc>
                <a:spcPct val="100000"/>
              </a:lnSpc>
              <a:spcBef>
                <a:spcPts val="500"/>
              </a:spcBef>
              <a:spcAft>
                <a:spcPts val="0"/>
              </a:spcAft>
              <a:buNone/>
            </a:pPr>
            <a:r>
              <a:t/>
            </a:r>
            <a:endParaRPr b="1" i="0" sz="1100" u="none" cap="none" strike="noStrike">
              <a:solidFill>
                <a:srgbClr val="3070C4"/>
              </a:solidFill>
              <a:latin typeface="Play"/>
              <a:ea typeface="Play"/>
              <a:cs typeface="Play"/>
              <a:sym typeface="Play"/>
            </a:endParaRPr>
          </a:p>
        </p:txBody>
      </p:sp>
      <p:sp>
        <p:nvSpPr>
          <p:cNvPr id="163" name="Google Shape;163;p8"/>
          <p:cNvSpPr/>
          <p:nvPr/>
        </p:nvSpPr>
        <p:spPr>
          <a:xfrm>
            <a:off x="2724912" y="2386584"/>
            <a:ext cx="5852160" cy="411480"/>
          </a:xfrm>
          <a:prstGeom prst="roundRect">
            <a:avLst>
              <a:gd fmla="val 16667" name="adj"/>
            </a:avLst>
          </a:prstGeom>
          <a:solidFill>
            <a:srgbClr val="F6F9FD"/>
          </a:solidFill>
          <a:ln cap="flat" cmpd="sng" w="16500">
            <a:solidFill>
              <a:srgbClr val="34ACB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73150" lIns="109725" spcFirstLastPara="1" rIns="109725" wrap="square" tIns="91425">
            <a:noAutofit/>
          </a:bodyPr>
          <a:lstStyle/>
          <a:p>
            <a:pPr indent="0" lvl="0" marL="0" marR="0" rtl="0" algn="ctr">
              <a:lnSpc>
                <a:spcPct val="100000"/>
              </a:lnSpc>
              <a:spcBef>
                <a:spcPts val="0"/>
              </a:spcBef>
              <a:spcAft>
                <a:spcPts val="0"/>
              </a:spcAft>
              <a:buNone/>
            </a:pPr>
            <a:r>
              <a:rPr b="1" i="0" lang="en-GB" sz="1100" u="none" cap="none" strike="noStrike">
                <a:solidFill>
                  <a:srgbClr val="34ACBE"/>
                </a:solidFill>
                <a:latin typeface="Play"/>
                <a:ea typeface="Play"/>
                <a:cs typeface="Play"/>
                <a:sym typeface="Play"/>
              </a:rPr>
              <a:t>In-memory directed graph; graph algorithms for reachability / blast radius</a:t>
            </a:r>
            <a:endParaRPr/>
          </a:p>
          <a:p>
            <a:pPr indent="0" lvl="0" marL="0" marR="0" rtl="0" algn="l">
              <a:lnSpc>
                <a:spcPct val="100000"/>
              </a:lnSpc>
              <a:spcBef>
                <a:spcPts val="500"/>
              </a:spcBef>
              <a:spcAft>
                <a:spcPts val="0"/>
              </a:spcAft>
              <a:buNone/>
            </a:pPr>
            <a:r>
              <a:t/>
            </a:r>
            <a:endParaRPr b="1" i="0" sz="1100" u="none" cap="none" strike="noStrike">
              <a:solidFill>
                <a:srgbClr val="34ACBE"/>
              </a:solidFill>
              <a:latin typeface="Play"/>
              <a:ea typeface="Play"/>
              <a:cs typeface="Play"/>
              <a:sym typeface="Play"/>
            </a:endParaRPr>
          </a:p>
        </p:txBody>
      </p:sp>
      <p:sp>
        <p:nvSpPr>
          <p:cNvPr id="164" name="Google Shape;164;p8"/>
          <p:cNvSpPr/>
          <p:nvPr/>
        </p:nvSpPr>
        <p:spPr>
          <a:xfrm>
            <a:off x="502920" y="2871216"/>
            <a:ext cx="2057400" cy="411480"/>
          </a:xfrm>
          <a:prstGeom prst="roundRect">
            <a:avLst>
              <a:gd fmla="val 16667" name="adj"/>
            </a:avLst>
          </a:prstGeom>
          <a:solidFill>
            <a:srgbClr val="EBF3FC"/>
          </a:solidFill>
          <a:ln cap="flat" cmpd="sng" w="16500">
            <a:solidFill>
              <a:srgbClr val="3070C4"/>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73150" lIns="109725" spcFirstLastPara="1" rIns="109725" wrap="square" tIns="91425">
            <a:noAutofit/>
          </a:bodyPr>
          <a:lstStyle/>
          <a:p>
            <a:pPr indent="0" lvl="0" marL="0" marR="0" rtl="0" algn="ctr">
              <a:lnSpc>
                <a:spcPct val="100000"/>
              </a:lnSpc>
              <a:spcBef>
                <a:spcPts val="0"/>
              </a:spcBef>
              <a:spcAft>
                <a:spcPts val="0"/>
              </a:spcAft>
              <a:buNone/>
            </a:pPr>
            <a:r>
              <a:rPr b="1" i="0" lang="en-GB" sz="1100" u="none" cap="none" strike="noStrike">
                <a:solidFill>
                  <a:srgbClr val="3070C4"/>
                </a:solidFill>
                <a:latin typeface="Play"/>
                <a:ea typeface="Play"/>
                <a:cs typeface="Play"/>
                <a:sym typeface="Play"/>
              </a:rPr>
              <a:t>AI Layer</a:t>
            </a:r>
            <a:endParaRPr/>
          </a:p>
          <a:p>
            <a:pPr indent="0" lvl="0" marL="0" marR="0" rtl="0" algn="l">
              <a:lnSpc>
                <a:spcPct val="100000"/>
              </a:lnSpc>
              <a:spcBef>
                <a:spcPts val="500"/>
              </a:spcBef>
              <a:spcAft>
                <a:spcPts val="0"/>
              </a:spcAft>
              <a:buNone/>
            </a:pPr>
            <a:r>
              <a:t/>
            </a:r>
            <a:endParaRPr b="1" i="0" sz="1100" u="none" cap="none" strike="noStrike">
              <a:solidFill>
                <a:srgbClr val="3070C4"/>
              </a:solidFill>
              <a:latin typeface="Play"/>
              <a:ea typeface="Play"/>
              <a:cs typeface="Play"/>
              <a:sym typeface="Play"/>
            </a:endParaRPr>
          </a:p>
        </p:txBody>
      </p:sp>
      <p:sp>
        <p:nvSpPr>
          <p:cNvPr id="165" name="Google Shape;165;p8"/>
          <p:cNvSpPr/>
          <p:nvPr/>
        </p:nvSpPr>
        <p:spPr>
          <a:xfrm>
            <a:off x="2724912" y="2871216"/>
            <a:ext cx="5852160" cy="411480"/>
          </a:xfrm>
          <a:prstGeom prst="roundRect">
            <a:avLst>
              <a:gd fmla="val 16667" name="adj"/>
            </a:avLst>
          </a:prstGeom>
          <a:solidFill>
            <a:srgbClr val="F6F9FD"/>
          </a:solidFill>
          <a:ln cap="flat" cmpd="sng" w="16500">
            <a:solidFill>
              <a:srgbClr val="34ACB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73150" lIns="109725" spcFirstLastPara="1" rIns="109725" wrap="square" tIns="91425">
            <a:noAutofit/>
          </a:bodyPr>
          <a:lstStyle/>
          <a:p>
            <a:pPr indent="0" lvl="0" marL="0" marR="0" rtl="0" algn="ctr">
              <a:lnSpc>
                <a:spcPct val="100000"/>
              </a:lnSpc>
              <a:spcBef>
                <a:spcPts val="0"/>
              </a:spcBef>
              <a:spcAft>
                <a:spcPts val="0"/>
              </a:spcAft>
              <a:buNone/>
            </a:pPr>
            <a:r>
              <a:rPr b="1" i="0" lang="en-GB" sz="1100" u="none" cap="none" strike="noStrike">
                <a:solidFill>
                  <a:srgbClr val="34ACBE"/>
                </a:solidFill>
                <a:latin typeface="Play"/>
                <a:ea typeface="Play"/>
                <a:cs typeface="Play"/>
                <a:sym typeface="Play"/>
              </a:rPr>
              <a:t>LLM provider adapter (OpenAI / Anthropic / OpenRouter), structured JSON outputs</a:t>
            </a:r>
            <a:endParaRPr/>
          </a:p>
          <a:p>
            <a:pPr indent="0" lvl="0" marL="0" marR="0" rtl="0" algn="l">
              <a:lnSpc>
                <a:spcPct val="100000"/>
              </a:lnSpc>
              <a:spcBef>
                <a:spcPts val="500"/>
              </a:spcBef>
              <a:spcAft>
                <a:spcPts val="0"/>
              </a:spcAft>
              <a:buNone/>
            </a:pPr>
            <a:r>
              <a:t/>
            </a:r>
            <a:endParaRPr b="1" i="0" sz="1100" u="none" cap="none" strike="noStrike">
              <a:solidFill>
                <a:srgbClr val="34ACBE"/>
              </a:solidFill>
              <a:latin typeface="Play"/>
              <a:ea typeface="Play"/>
              <a:cs typeface="Play"/>
              <a:sym typeface="Play"/>
            </a:endParaRPr>
          </a:p>
        </p:txBody>
      </p:sp>
      <p:sp>
        <p:nvSpPr>
          <p:cNvPr id="166" name="Google Shape;166;p8"/>
          <p:cNvSpPr/>
          <p:nvPr/>
        </p:nvSpPr>
        <p:spPr>
          <a:xfrm>
            <a:off x="502920" y="3355848"/>
            <a:ext cx="2057400" cy="411480"/>
          </a:xfrm>
          <a:prstGeom prst="roundRect">
            <a:avLst>
              <a:gd fmla="val 16667" name="adj"/>
            </a:avLst>
          </a:prstGeom>
          <a:solidFill>
            <a:srgbClr val="EBF3FC"/>
          </a:solidFill>
          <a:ln cap="flat" cmpd="sng" w="16500">
            <a:solidFill>
              <a:srgbClr val="3070C4"/>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73150" lIns="109725" spcFirstLastPara="1" rIns="109725" wrap="square" tIns="91425">
            <a:noAutofit/>
          </a:bodyPr>
          <a:lstStyle/>
          <a:p>
            <a:pPr indent="0" lvl="0" marL="0" marR="0" rtl="0" algn="ctr">
              <a:lnSpc>
                <a:spcPct val="100000"/>
              </a:lnSpc>
              <a:spcBef>
                <a:spcPts val="0"/>
              </a:spcBef>
              <a:spcAft>
                <a:spcPts val="0"/>
              </a:spcAft>
              <a:buNone/>
            </a:pPr>
            <a:r>
              <a:rPr b="1" i="0" lang="en-GB" sz="1100" u="none" cap="none" strike="noStrike">
                <a:solidFill>
                  <a:srgbClr val="3070C4"/>
                </a:solidFill>
                <a:latin typeface="Play"/>
                <a:ea typeface="Play"/>
                <a:cs typeface="Play"/>
                <a:sym typeface="Play"/>
              </a:rPr>
              <a:t>Visualization</a:t>
            </a:r>
            <a:endParaRPr/>
          </a:p>
          <a:p>
            <a:pPr indent="0" lvl="0" marL="0" marR="0" rtl="0" algn="l">
              <a:lnSpc>
                <a:spcPct val="100000"/>
              </a:lnSpc>
              <a:spcBef>
                <a:spcPts val="500"/>
              </a:spcBef>
              <a:spcAft>
                <a:spcPts val="0"/>
              </a:spcAft>
              <a:buNone/>
            </a:pPr>
            <a:r>
              <a:t/>
            </a:r>
            <a:endParaRPr b="1" i="0" sz="1100" u="none" cap="none" strike="noStrike">
              <a:solidFill>
                <a:srgbClr val="3070C4"/>
              </a:solidFill>
              <a:latin typeface="Play"/>
              <a:ea typeface="Play"/>
              <a:cs typeface="Play"/>
              <a:sym typeface="Play"/>
            </a:endParaRPr>
          </a:p>
        </p:txBody>
      </p:sp>
      <p:sp>
        <p:nvSpPr>
          <p:cNvPr id="167" name="Google Shape;167;p8"/>
          <p:cNvSpPr/>
          <p:nvPr/>
        </p:nvSpPr>
        <p:spPr>
          <a:xfrm>
            <a:off x="2724912" y="3355848"/>
            <a:ext cx="5852160" cy="411480"/>
          </a:xfrm>
          <a:prstGeom prst="roundRect">
            <a:avLst>
              <a:gd fmla="val 16667" name="adj"/>
            </a:avLst>
          </a:prstGeom>
          <a:solidFill>
            <a:srgbClr val="F6F9FD"/>
          </a:solidFill>
          <a:ln cap="flat" cmpd="sng" w="16500">
            <a:solidFill>
              <a:srgbClr val="34ACB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73150" lIns="109725" spcFirstLastPara="1" rIns="109725" wrap="square" tIns="91425">
            <a:noAutofit/>
          </a:bodyPr>
          <a:lstStyle/>
          <a:p>
            <a:pPr indent="0" lvl="0" marL="0" marR="0" rtl="0" algn="ctr">
              <a:lnSpc>
                <a:spcPct val="100000"/>
              </a:lnSpc>
              <a:spcBef>
                <a:spcPts val="0"/>
              </a:spcBef>
              <a:spcAft>
                <a:spcPts val="0"/>
              </a:spcAft>
              <a:buNone/>
            </a:pPr>
            <a:r>
              <a:rPr b="1" i="0" lang="en-GB" sz="1100" u="none" cap="none" strike="noStrike">
                <a:solidFill>
                  <a:srgbClr val="34ACBE"/>
                </a:solidFill>
                <a:latin typeface="Play"/>
                <a:ea typeface="Play"/>
                <a:cs typeface="Play"/>
                <a:sym typeface="Play"/>
              </a:rPr>
              <a:t>Next.js, React, React Flow; Mermaid export</a:t>
            </a:r>
            <a:endParaRPr/>
          </a:p>
          <a:p>
            <a:pPr indent="0" lvl="0" marL="0" marR="0" rtl="0" algn="l">
              <a:lnSpc>
                <a:spcPct val="100000"/>
              </a:lnSpc>
              <a:spcBef>
                <a:spcPts val="500"/>
              </a:spcBef>
              <a:spcAft>
                <a:spcPts val="0"/>
              </a:spcAft>
              <a:buNone/>
            </a:pPr>
            <a:r>
              <a:t/>
            </a:r>
            <a:endParaRPr b="1" i="0" sz="1100" u="none" cap="none" strike="noStrike">
              <a:solidFill>
                <a:srgbClr val="34ACBE"/>
              </a:solidFill>
              <a:latin typeface="Play"/>
              <a:ea typeface="Play"/>
              <a:cs typeface="Play"/>
              <a:sym typeface="Play"/>
            </a:endParaRPr>
          </a:p>
        </p:txBody>
      </p:sp>
      <p:sp>
        <p:nvSpPr>
          <p:cNvPr id="168" name="Google Shape;168;p8"/>
          <p:cNvSpPr/>
          <p:nvPr/>
        </p:nvSpPr>
        <p:spPr>
          <a:xfrm>
            <a:off x="502920" y="3840480"/>
            <a:ext cx="2057400" cy="411480"/>
          </a:xfrm>
          <a:prstGeom prst="roundRect">
            <a:avLst>
              <a:gd fmla="val 16667" name="adj"/>
            </a:avLst>
          </a:prstGeom>
          <a:solidFill>
            <a:srgbClr val="EBF3FC"/>
          </a:solidFill>
          <a:ln cap="flat" cmpd="sng" w="16500">
            <a:solidFill>
              <a:srgbClr val="3070C4"/>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73150" lIns="109725" spcFirstLastPara="1" rIns="109725" wrap="square" tIns="91425">
            <a:noAutofit/>
          </a:bodyPr>
          <a:lstStyle/>
          <a:p>
            <a:pPr indent="0" lvl="0" marL="0" marR="0" rtl="0" algn="ctr">
              <a:lnSpc>
                <a:spcPct val="100000"/>
              </a:lnSpc>
              <a:spcBef>
                <a:spcPts val="0"/>
              </a:spcBef>
              <a:spcAft>
                <a:spcPts val="0"/>
              </a:spcAft>
              <a:buNone/>
            </a:pPr>
            <a:r>
              <a:rPr b="1" i="0" lang="en-GB" sz="1100" u="none" cap="none" strike="noStrike">
                <a:solidFill>
                  <a:srgbClr val="3070C4"/>
                </a:solidFill>
                <a:latin typeface="Play"/>
                <a:ea typeface="Play"/>
                <a:cs typeface="Play"/>
                <a:sym typeface="Play"/>
              </a:rPr>
              <a:t>Observability (optional)</a:t>
            </a:r>
            <a:endParaRPr/>
          </a:p>
          <a:p>
            <a:pPr indent="0" lvl="0" marL="0" marR="0" rtl="0" algn="l">
              <a:lnSpc>
                <a:spcPct val="100000"/>
              </a:lnSpc>
              <a:spcBef>
                <a:spcPts val="500"/>
              </a:spcBef>
              <a:spcAft>
                <a:spcPts val="0"/>
              </a:spcAft>
              <a:buNone/>
            </a:pPr>
            <a:r>
              <a:t/>
            </a:r>
            <a:endParaRPr b="1" i="0" sz="1100" u="none" cap="none" strike="noStrike">
              <a:solidFill>
                <a:srgbClr val="3070C4"/>
              </a:solidFill>
              <a:latin typeface="Play"/>
              <a:ea typeface="Play"/>
              <a:cs typeface="Play"/>
              <a:sym typeface="Play"/>
            </a:endParaRPr>
          </a:p>
        </p:txBody>
      </p:sp>
      <p:sp>
        <p:nvSpPr>
          <p:cNvPr id="169" name="Google Shape;169;p8"/>
          <p:cNvSpPr/>
          <p:nvPr/>
        </p:nvSpPr>
        <p:spPr>
          <a:xfrm>
            <a:off x="2724912" y="3840480"/>
            <a:ext cx="5852160" cy="411480"/>
          </a:xfrm>
          <a:prstGeom prst="roundRect">
            <a:avLst>
              <a:gd fmla="val 16667" name="adj"/>
            </a:avLst>
          </a:prstGeom>
          <a:solidFill>
            <a:srgbClr val="F6F9FD"/>
          </a:solidFill>
          <a:ln cap="flat" cmpd="sng" w="16500">
            <a:solidFill>
              <a:srgbClr val="34ACB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73150" lIns="109725" spcFirstLastPara="1" rIns="109725" wrap="square" tIns="91425">
            <a:noAutofit/>
          </a:bodyPr>
          <a:lstStyle/>
          <a:p>
            <a:pPr indent="0" lvl="0" marL="0" marR="0" rtl="0" algn="ctr">
              <a:lnSpc>
                <a:spcPct val="100000"/>
              </a:lnSpc>
              <a:spcBef>
                <a:spcPts val="0"/>
              </a:spcBef>
              <a:spcAft>
                <a:spcPts val="0"/>
              </a:spcAft>
              <a:buNone/>
            </a:pPr>
            <a:r>
              <a:rPr b="1" i="0" lang="en-GB" sz="1100" u="none" cap="none" strike="noStrike">
                <a:solidFill>
                  <a:srgbClr val="34ACBE"/>
                </a:solidFill>
                <a:latin typeface="Play"/>
                <a:ea typeface="Play"/>
                <a:cs typeface="Play"/>
                <a:sym typeface="Play"/>
              </a:rPr>
              <a:t>Prometheus / Metrics Server; Kubernetes Events and logs</a:t>
            </a:r>
            <a:endParaRPr/>
          </a:p>
          <a:p>
            <a:pPr indent="0" lvl="0" marL="0" marR="0" rtl="0" algn="l">
              <a:lnSpc>
                <a:spcPct val="100000"/>
              </a:lnSpc>
              <a:spcBef>
                <a:spcPts val="500"/>
              </a:spcBef>
              <a:spcAft>
                <a:spcPts val="0"/>
              </a:spcAft>
              <a:buNone/>
            </a:pPr>
            <a:r>
              <a:t/>
            </a:r>
            <a:endParaRPr b="1" i="0" sz="1100" u="none" cap="none" strike="noStrike">
              <a:solidFill>
                <a:srgbClr val="34ACBE"/>
              </a:solidFill>
              <a:latin typeface="Play"/>
              <a:ea typeface="Play"/>
              <a:cs typeface="Play"/>
              <a:sym typeface="Play"/>
            </a:endParaRPr>
          </a:p>
        </p:txBody>
      </p:sp>
      <p:sp>
        <p:nvSpPr>
          <p:cNvPr id="170" name="Google Shape;170;p8"/>
          <p:cNvSpPr/>
          <p:nvPr/>
        </p:nvSpPr>
        <p:spPr>
          <a:xfrm>
            <a:off x="502920" y="4325112"/>
            <a:ext cx="2057400" cy="411480"/>
          </a:xfrm>
          <a:prstGeom prst="roundRect">
            <a:avLst>
              <a:gd fmla="val 16667" name="adj"/>
            </a:avLst>
          </a:prstGeom>
          <a:solidFill>
            <a:srgbClr val="EBF3FC"/>
          </a:solidFill>
          <a:ln cap="flat" cmpd="sng" w="16500">
            <a:solidFill>
              <a:srgbClr val="3070C4"/>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73150" lIns="109725" spcFirstLastPara="1" rIns="109725" wrap="square" tIns="91425">
            <a:noAutofit/>
          </a:bodyPr>
          <a:lstStyle/>
          <a:p>
            <a:pPr indent="0" lvl="0" marL="0" marR="0" rtl="0" algn="ctr">
              <a:lnSpc>
                <a:spcPct val="100000"/>
              </a:lnSpc>
              <a:spcBef>
                <a:spcPts val="0"/>
              </a:spcBef>
              <a:spcAft>
                <a:spcPts val="0"/>
              </a:spcAft>
              <a:buNone/>
            </a:pPr>
            <a:r>
              <a:rPr b="1" i="0" lang="en-GB" sz="1100" u="none" cap="none" strike="noStrike">
                <a:solidFill>
                  <a:srgbClr val="3070C4"/>
                </a:solidFill>
                <a:latin typeface="Play"/>
                <a:ea typeface="Play"/>
                <a:cs typeface="Play"/>
                <a:sym typeface="Play"/>
              </a:rPr>
              <a:t>Delivery</a:t>
            </a:r>
            <a:endParaRPr/>
          </a:p>
          <a:p>
            <a:pPr indent="0" lvl="0" marL="0" marR="0" rtl="0" algn="l">
              <a:lnSpc>
                <a:spcPct val="100000"/>
              </a:lnSpc>
              <a:spcBef>
                <a:spcPts val="500"/>
              </a:spcBef>
              <a:spcAft>
                <a:spcPts val="0"/>
              </a:spcAft>
              <a:buNone/>
            </a:pPr>
            <a:r>
              <a:t/>
            </a:r>
            <a:endParaRPr b="1" i="0" sz="1100" u="none" cap="none" strike="noStrike">
              <a:solidFill>
                <a:srgbClr val="3070C4"/>
              </a:solidFill>
              <a:latin typeface="Play"/>
              <a:ea typeface="Play"/>
              <a:cs typeface="Play"/>
              <a:sym typeface="Play"/>
            </a:endParaRPr>
          </a:p>
        </p:txBody>
      </p:sp>
      <p:sp>
        <p:nvSpPr>
          <p:cNvPr id="171" name="Google Shape;171;p8"/>
          <p:cNvSpPr/>
          <p:nvPr/>
        </p:nvSpPr>
        <p:spPr>
          <a:xfrm>
            <a:off x="2724912" y="4325112"/>
            <a:ext cx="5852160" cy="411480"/>
          </a:xfrm>
          <a:prstGeom prst="roundRect">
            <a:avLst>
              <a:gd fmla="val 16667" name="adj"/>
            </a:avLst>
          </a:prstGeom>
          <a:solidFill>
            <a:srgbClr val="F6F9FD"/>
          </a:solidFill>
          <a:ln cap="flat" cmpd="sng" w="16500">
            <a:solidFill>
              <a:srgbClr val="34ACB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73150" lIns="109725" spcFirstLastPara="1" rIns="109725" wrap="square" tIns="91425">
            <a:noAutofit/>
          </a:bodyPr>
          <a:lstStyle/>
          <a:p>
            <a:pPr indent="0" lvl="0" marL="0" marR="0" rtl="0" algn="ctr">
              <a:lnSpc>
                <a:spcPct val="100000"/>
              </a:lnSpc>
              <a:spcBef>
                <a:spcPts val="0"/>
              </a:spcBef>
              <a:spcAft>
                <a:spcPts val="0"/>
              </a:spcAft>
              <a:buNone/>
            </a:pPr>
            <a:r>
              <a:rPr b="1" i="0" lang="en-GB" sz="1100" u="none" cap="none" strike="noStrike">
                <a:solidFill>
                  <a:srgbClr val="34ACBE"/>
                </a:solidFill>
                <a:latin typeface="Play"/>
                <a:ea typeface="Play"/>
                <a:cs typeface="Play"/>
                <a:sym typeface="Play"/>
              </a:rPr>
              <a:t>Docker, Helm, GitHub Actions; Kind for local demo, EKS as target environment</a:t>
            </a:r>
            <a:endParaRPr/>
          </a:p>
          <a:p>
            <a:pPr indent="0" lvl="0" marL="0" marR="0" rtl="0" algn="l">
              <a:lnSpc>
                <a:spcPct val="100000"/>
              </a:lnSpc>
              <a:spcBef>
                <a:spcPts val="500"/>
              </a:spcBef>
              <a:spcAft>
                <a:spcPts val="0"/>
              </a:spcAft>
              <a:buNone/>
            </a:pPr>
            <a:r>
              <a:t/>
            </a:r>
            <a:endParaRPr b="1" i="0" sz="1100" u="none" cap="none" strike="noStrike">
              <a:solidFill>
                <a:srgbClr val="34ACBE"/>
              </a:solidFill>
              <a:latin typeface="Play"/>
              <a:ea typeface="Play"/>
              <a:cs typeface="Play"/>
              <a:sym typeface="Play"/>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pic>
        <p:nvPicPr>
          <p:cNvPr id="176" name="Google Shape;176;p9"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77" name="Google Shape;177;p9" title="Group 427319979.png"/>
          <p:cNvPicPr preferRelativeResize="0"/>
          <p:nvPr/>
        </p:nvPicPr>
        <p:blipFill rotWithShape="1">
          <a:blip r:embed="rId4">
            <a:alphaModFix/>
          </a:blip>
          <a:srcRect b="0" l="0" r="0" t="0"/>
          <a:stretch/>
        </p:blipFill>
        <p:spPr>
          <a:xfrm>
            <a:off x="0" y="1"/>
            <a:ext cx="9144000" cy="507359"/>
          </a:xfrm>
          <a:prstGeom prst="rect">
            <a:avLst/>
          </a:prstGeom>
          <a:noFill/>
          <a:ln>
            <a:noFill/>
          </a:ln>
        </p:spPr>
      </p:pic>
      <p:sp>
        <p:nvSpPr>
          <p:cNvPr id="178" name="Google Shape;178;p9"/>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9"/>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rgbClr val="000000"/>
                </a:solidFill>
                <a:latin typeface="Google Sans Flex Medium"/>
                <a:ea typeface="Google Sans Flex Medium"/>
                <a:cs typeface="Google Sans Flex Medium"/>
                <a:sym typeface="Google Sans Flex Medium"/>
              </a:rPr>
              <a:t>Estimated implementation cost (optional)</a:t>
            </a:r>
            <a:endParaRPr b="0" i="0" sz="1600" u="none" cap="none" strike="noStrike">
              <a:solidFill>
                <a:srgbClr val="000000"/>
              </a:solidFill>
              <a:latin typeface="Google Sans Flex Medium"/>
              <a:ea typeface="Google Sans Flex Medium"/>
              <a:cs typeface="Google Sans Flex Medium"/>
              <a:sym typeface="Google Sans Flex Medium"/>
            </a:endParaRPr>
          </a:p>
        </p:txBody>
      </p:sp>
      <p:sp>
        <p:nvSpPr>
          <p:cNvPr id="180" name="Google Shape;180;p9"/>
          <p:cNvSpPr txBox="1"/>
          <p:nvPr/>
        </p:nvSpPr>
        <p:spPr>
          <a:xfrm>
            <a:off x="548640" y="1417320"/>
            <a:ext cx="8046720" cy="502920"/>
          </a:xfrm>
          <a:prstGeom prst="rect">
            <a:avLst/>
          </a:prstGeom>
          <a:noFill/>
          <a:ln>
            <a:noFill/>
          </a:ln>
        </p:spPr>
        <p:txBody>
          <a:bodyPr anchorCtr="0" anchor="t" bIns="73150" lIns="73150" spcFirstLastPara="1" rIns="73150" wrap="square" tIns="73150">
            <a:spAutoFit/>
          </a:bodyPr>
          <a:lstStyle/>
          <a:p>
            <a:pPr indent="0" lvl="0" marL="0" marR="0" rtl="0" algn="l">
              <a:lnSpc>
                <a:spcPct val="100000"/>
              </a:lnSpc>
              <a:spcBef>
                <a:spcPts val="0"/>
              </a:spcBef>
              <a:spcAft>
                <a:spcPts val="0"/>
              </a:spcAft>
              <a:buNone/>
            </a:pPr>
            <a:r>
              <a:rPr b="1" i="0" lang="en-GB" sz="1700" u="none" cap="none" strike="noStrike">
                <a:solidFill>
                  <a:srgbClr val="182D4E"/>
                </a:solidFill>
                <a:latin typeface="Arial"/>
                <a:ea typeface="Arial"/>
                <a:cs typeface="Arial"/>
                <a:sym typeface="Arial"/>
              </a:rPr>
              <a:t>Estimated MVP cost (2–4 week prototype; USD, indicative)</a:t>
            </a:r>
            <a:endParaRPr/>
          </a:p>
        </p:txBody>
      </p:sp>
      <p:sp>
        <p:nvSpPr>
          <p:cNvPr id="181" name="Google Shape;181;p9"/>
          <p:cNvSpPr/>
          <p:nvPr/>
        </p:nvSpPr>
        <p:spPr>
          <a:xfrm>
            <a:off x="548640" y="2057400"/>
            <a:ext cx="2331720" cy="1051560"/>
          </a:xfrm>
          <a:prstGeom prst="roundRect">
            <a:avLst>
              <a:gd fmla="val 16667" name="adj"/>
            </a:avLst>
          </a:prstGeom>
          <a:solidFill>
            <a:srgbClr val="EBF3FC"/>
          </a:solidFill>
          <a:ln cap="flat" cmpd="sng" w="16500">
            <a:solidFill>
              <a:srgbClr val="2A916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73150" lIns="109725" spcFirstLastPara="1" rIns="109725" wrap="square" tIns="91425">
            <a:noAutofit/>
          </a:bodyPr>
          <a:lstStyle/>
          <a:p>
            <a:pPr indent="0" lvl="0" marL="0" marR="0" rtl="0" algn="ctr">
              <a:lnSpc>
                <a:spcPct val="100000"/>
              </a:lnSpc>
              <a:spcBef>
                <a:spcPts val="0"/>
              </a:spcBef>
              <a:spcAft>
                <a:spcPts val="0"/>
              </a:spcAft>
              <a:buNone/>
            </a:pPr>
            <a:r>
              <a:rPr b="1" i="0" lang="en-GB" sz="1400" u="none" cap="none" strike="noStrike">
                <a:solidFill>
                  <a:srgbClr val="2A916C"/>
                </a:solidFill>
                <a:latin typeface="Play"/>
                <a:ea typeface="Play"/>
                <a:cs typeface="Play"/>
                <a:sym typeface="Play"/>
              </a:rPr>
              <a:t>Local demo</a:t>
            </a:r>
            <a:endParaRPr/>
          </a:p>
          <a:p>
            <a:pPr indent="0" lvl="0" marL="0" marR="0" rtl="0" algn="l">
              <a:lnSpc>
                <a:spcPct val="100000"/>
              </a:lnSpc>
              <a:spcBef>
                <a:spcPts val="500"/>
              </a:spcBef>
              <a:spcAft>
                <a:spcPts val="0"/>
              </a:spcAft>
              <a:buNone/>
            </a:pPr>
            <a:r>
              <a:rPr b="0" i="0" lang="en-GB" sz="1200" u="none" cap="none" strike="noStrike">
                <a:solidFill>
                  <a:srgbClr val="2B3441"/>
                </a:solidFill>
                <a:latin typeface="Arial"/>
                <a:ea typeface="Arial"/>
                <a:cs typeface="Arial"/>
                <a:sym typeface="Arial"/>
              </a:rPr>
              <a:t>$0–$20</a:t>
            </a:r>
            <a:br>
              <a:rPr b="0" i="0" lang="en-GB" sz="1400" u="none" cap="none" strike="noStrike">
                <a:solidFill>
                  <a:schemeClr val="lt1"/>
                </a:solidFill>
                <a:latin typeface="Arial"/>
                <a:ea typeface="Arial"/>
                <a:cs typeface="Arial"/>
                <a:sym typeface="Arial"/>
              </a:rPr>
            </a:br>
            <a:r>
              <a:rPr b="0" i="0" lang="en-GB" sz="1200" u="none" cap="none" strike="noStrike">
                <a:solidFill>
                  <a:srgbClr val="2B3441"/>
                </a:solidFill>
                <a:latin typeface="Arial"/>
                <a:ea typeface="Arial"/>
                <a:cs typeface="Arial"/>
                <a:sym typeface="Arial"/>
              </a:rPr>
              <a:t>Kind + local development; open-source tools.</a:t>
            </a:r>
            <a:endParaRPr/>
          </a:p>
        </p:txBody>
      </p:sp>
      <p:sp>
        <p:nvSpPr>
          <p:cNvPr id="182" name="Google Shape;182;p9"/>
          <p:cNvSpPr/>
          <p:nvPr/>
        </p:nvSpPr>
        <p:spPr>
          <a:xfrm>
            <a:off x="3246120" y="2057400"/>
            <a:ext cx="2331720" cy="1051560"/>
          </a:xfrm>
          <a:prstGeom prst="roundRect">
            <a:avLst>
              <a:gd fmla="val 16667" name="adj"/>
            </a:avLst>
          </a:prstGeom>
          <a:solidFill>
            <a:srgbClr val="F6F9FD"/>
          </a:solidFill>
          <a:ln cap="flat" cmpd="sng" w="16500">
            <a:solidFill>
              <a:srgbClr val="3070C4"/>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73150" lIns="109725" spcFirstLastPara="1" rIns="109725" wrap="square" tIns="91425">
            <a:noAutofit/>
          </a:bodyPr>
          <a:lstStyle/>
          <a:p>
            <a:pPr indent="0" lvl="0" marL="0" marR="0" rtl="0" algn="ctr">
              <a:lnSpc>
                <a:spcPct val="100000"/>
              </a:lnSpc>
              <a:spcBef>
                <a:spcPts val="0"/>
              </a:spcBef>
              <a:spcAft>
                <a:spcPts val="0"/>
              </a:spcAft>
              <a:buNone/>
            </a:pPr>
            <a:r>
              <a:rPr b="1" i="0" lang="en-GB" sz="1400" u="none" cap="none" strike="noStrike">
                <a:solidFill>
                  <a:srgbClr val="3070C4"/>
                </a:solidFill>
                <a:latin typeface="Play"/>
                <a:ea typeface="Play"/>
                <a:cs typeface="Play"/>
                <a:sym typeface="Play"/>
              </a:rPr>
              <a:t>LLM usage</a:t>
            </a:r>
            <a:endParaRPr/>
          </a:p>
          <a:p>
            <a:pPr indent="0" lvl="0" marL="0" marR="0" rtl="0" algn="l">
              <a:lnSpc>
                <a:spcPct val="100000"/>
              </a:lnSpc>
              <a:spcBef>
                <a:spcPts val="500"/>
              </a:spcBef>
              <a:spcAft>
                <a:spcPts val="0"/>
              </a:spcAft>
              <a:buNone/>
            </a:pPr>
            <a:r>
              <a:rPr b="0" i="0" lang="en-GB" sz="1200" u="none" cap="none" strike="noStrike">
                <a:solidFill>
                  <a:srgbClr val="2B3441"/>
                </a:solidFill>
                <a:latin typeface="Arial"/>
                <a:ea typeface="Arial"/>
                <a:cs typeface="Arial"/>
                <a:sym typeface="Arial"/>
              </a:rPr>
              <a:t>$10–$100</a:t>
            </a:r>
            <a:br>
              <a:rPr b="0" i="0" lang="en-GB" sz="1400" u="none" cap="none" strike="noStrike">
                <a:solidFill>
                  <a:schemeClr val="lt1"/>
                </a:solidFill>
                <a:latin typeface="Arial"/>
                <a:ea typeface="Arial"/>
                <a:cs typeface="Arial"/>
                <a:sym typeface="Arial"/>
              </a:rPr>
            </a:br>
            <a:r>
              <a:rPr b="0" i="0" lang="en-GB" sz="1200" u="none" cap="none" strike="noStrike">
                <a:solidFill>
                  <a:srgbClr val="2B3441"/>
                </a:solidFill>
                <a:latin typeface="Arial"/>
                <a:ea typeface="Arial"/>
                <a:cs typeface="Arial"/>
                <a:sym typeface="Arial"/>
              </a:rPr>
              <a:t>Depends on model, prompt size, and demo volume.</a:t>
            </a:r>
            <a:endParaRPr/>
          </a:p>
        </p:txBody>
      </p:sp>
      <p:sp>
        <p:nvSpPr>
          <p:cNvPr id="183" name="Google Shape;183;p9"/>
          <p:cNvSpPr/>
          <p:nvPr/>
        </p:nvSpPr>
        <p:spPr>
          <a:xfrm>
            <a:off x="5943600" y="2057400"/>
            <a:ext cx="2331720" cy="1051560"/>
          </a:xfrm>
          <a:prstGeom prst="roundRect">
            <a:avLst>
              <a:gd fmla="val 16667" name="adj"/>
            </a:avLst>
          </a:prstGeom>
          <a:solidFill>
            <a:srgbClr val="EBF3FC"/>
          </a:solidFill>
          <a:ln cap="flat" cmpd="sng" w="16500">
            <a:solidFill>
              <a:srgbClr val="DC8B3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73150" lIns="109725" spcFirstLastPara="1" rIns="109725" wrap="square" tIns="91425">
            <a:noAutofit/>
          </a:bodyPr>
          <a:lstStyle/>
          <a:p>
            <a:pPr indent="0" lvl="0" marL="0" marR="0" rtl="0" algn="ctr">
              <a:lnSpc>
                <a:spcPct val="100000"/>
              </a:lnSpc>
              <a:spcBef>
                <a:spcPts val="0"/>
              </a:spcBef>
              <a:spcAft>
                <a:spcPts val="0"/>
              </a:spcAft>
              <a:buNone/>
            </a:pPr>
            <a:r>
              <a:rPr b="1" i="0" lang="en-GB" sz="1400" u="none" cap="none" strike="noStrike">
                <a:solidFill>
                  <a:srgbClr val="DC8B32"/>
                </a:solidFill>
                <a:latin typeface="Play"/>
                <a:ea typeface="Play"/>
                <a:cs typeface="Play"/>
                <a:sym typeface="Play"/>
              </a:rPr>
              <a:t>Cloud demo (optional)</a:t>
            </a:r>
            <a:endParaRPr/>
          </a:p>
          <a:p>
            <a:pPr indent="0" lvl="0" marL="0" marR="0" rtl="0" algn="l">
              <a:lnSpc>
                <a:spcPct val="100000"/>
              </a:lnSpc>
              <a:spcBef>
                <a:spcPts val="500"/>
              </a:spcBef>
              <a:spcAft>
                <a:spcPts val="0"/>
              </a:spcAft>
              <a:buNone/>
            </a:pPr>
            <a:r>
              <a:rPr b="0" i="0" lang="en-GB" sz="1200" u="none" cap="none" strike="noStrike">
                <a:solidFill>
                  <a:srgbClr val="2B3441"/>
                </a:solidFill>
                <a:latin typeface="Arial"/>
                <a:ea typeface="Arial"/>
                <a:cs typeface="Arial"/>
                <a:sym typeface="Arial"/>
              </a:rPr>
              <a:t>$30–$150+</a:t>
            </a:r>
            <a:br>
              <a:rPr b="0" i="0" lang="en-GB" sz="1400" u="none" cap="none" strike="noStrike">
                <a:solidFill>
                  <a:schemeClr val="lt1"/>
                </a:solidFill>
                <a:latin typeface="Arial"/>
                <a:ea typeface="Arial"/>
                <a:cs typeface="Arial"/>
                <a:sym typeface="Arial"/>
              </a:rPr>
            </a:br>
            <a:r>
              <a:rPr b="0" i="0" lang="en-GB" sz="1200" u="none" cap="none" strike="noStrike">
                <a:solidFill>
                  <a:srgbClr val="2B3441"/>
                </a:solidFill>
                <a:latin typeface="Arial"/>
                <a:ea typeface="Arial"/>
                <a:cs typeface="Arial"/>
                <a:sym typeface="Arial"/>
              </a:rPr>
              <a:t>Small EKS / cloud resources; usage-dependent.</a:t>
            </a:r>
            <a:endParaRPr/>
          </a:p>
        </p:txBody>
      </p:sp>
      <p:sp>
        <p:nvSpPr>
          <p:cNvPr id="184" name="Google Shape;184;p9"/>
          <p:cNvSpPr txBox="1"/>
          <p:nvPr/>
        </p:nvSpPr>
        <p:spPr>
          <a:xfrm>
            <a:off x="594360" y="3474720"/>
            <a:ext cx="8046720" cy="777240"/>
          </a:xfrm>
          <a:prstGeom prst="rect">
            <a:avLst/>
          </a:prstGeom>
          <a:noFill/>
          <a:ln>
            <a:noFill/>
          </a:ln>
        </p:spPr>
        <p:txBody>
          <a:bodyPr anchorCtr="0" anchor="t" bIns="73150" lIns="73150" spcFirstLastPara="1" rIns="73150" wrap="square" tIns="73150">
            <a:spAutoFit/>
          </a:bodyPr>
          <a:lstStyle/>
          <a:p>
            <a:pPr indent="0" lvl="0" marL="0" marR="0" rtl="0" algn="l">
              <a:lnSpc>
                <a:spcPct val="100000"/>
              </a:lnSpc>
              <a:spcBef>
                <a:spcPts val="0"/>
              </a:spcBef>
              <a:spcAft>
                <a:spcPts val="0"/>
              </a:spcAft>
              <a:buNone/>
            </a:pPr>
            <a:r>
              <a:rPr b="0" i="0" lang="en-GB" sz="1300" u="none" cap="none" strike="noStrike">
                <a:solidFill>
                  <a:srgbClr val="2B3441"/>
                </a:solidFill>
                <a:latin typeface="Arial"/>
                <a:ea typeface="Arial"/>
                <a:cs typeface="Arial"/>
                <a:sym typeface="Arial"/>
              </a:rPr>
              <a:t>Assumptions: one developer, existing laptop, free/open-source tooling, limited test workloads, and no paid labor included. Actual cost varies by region, cluster uptime, and LLM provider. A local Kind-based demo can keep infrastructure cost close to zero.</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pic>
        <p:nvPicPr>
          <p:cNvPr id="189" name="Google Shape;189;p10"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90" name="Google Shape;190;p10" title="Group 427319979.png"/>
          <p:cNvPicPr preferRelativeResize="0"/>
          <p:nvPr/>
        </p:nvPicPr>
        <p:blipFill rotWithShape="1">
          <a:blip r:embed="rId4">
            <a:alphaModFix/>
          </a:blip>
          <a:srcRect b="0" l="0" r="0" t="0"/>
          <a:stretch/>
        </p:blipFill>
        <p:spPr>
          <a:xfrm>
            <a:off x="0" y="1"/>
            <a:ext cx="9144000" cy="507359"/>
          </a:xfrm>
          <a:prstGeom prst="rect">
            <a:avLst/>
          </a:prstGeom>
          <a:noFill/>
          <a:ln>
            <a:noFill/>
          </a:ln>
        </p:spPr>
      </p:pic>
      <p:sp>
        <p:nvSpPr>
          <p:cNvPr id="191" name="Google Shape;191;p10"/>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10"/>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rgbClr val="000000"/>
                </a:solidFill>
                <a:latin typeface="Google Sans Flex Medium"/>
                <a:ea typeface="Google Sans Flex Medium"/>
                <a:cs typeface="Google Sans Flex Medium"/>
                <a:sym typeface="Google Sans Flex Medium"/>
              </a:rPr>
              <a:t>Snapshots of the prototype</a:t>
            </a:r>
            <a:endParaRPr b="0" i="0" sz="1600" u="none" cap="none" strike="noStrike">
              <a:solidFill>
                <a:srgbClr val="000000"/>
              </a:solidFill>
              <a:latin typeface="Google Sans Flex Medium"/>
              <a:ea typeface="Google Sans Flex Medium"/>
              <a:cs typeface="Google Sans Flex Medium"/>
              <a:sym typeface="Google Sans Flex Medium"/>
            </a:endParaRPr>
          </a:p>
        </p:txBody>
      </p:sp>
      <p:sp>
        <p:nvSpPr>
          <p:cNvPr id="193" name="Google Shape;193;p10"/>
          <p:cNvSpPr/>
          <p:nvPr/>
        </p:nvSpPr>
        <p:spPr>
          <a:xfrm>
            <a:off x="640080" y="1645920"/>
            <a:ext cx="3657600" cy="2103120"/>
          </a:xfrm>
          <a:prstGeom prst="roundRect">
            <a:avLst>
              <a:gd fmla="val 16667" name="adj"/>
            </a:avLst>
          </a:prstGeom>
          <a:solidFill>
            <a:srgbClr val="EBF3FC"/>
          </a:solidFill>
          <a:ln cap="flat" cmpd="sng" w="16500">
            <a:solidFill>
              <a:srgbClr val="3070C4"/>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73150" lIns="109725" spcFirstLastPara="1" rIns="109725" wrap="square" tIns="91425">
            <a:noAutofit/>
          </a:bodyPr>
          <a:lstStyle/>
          <a:p>
            <a:pPr indent="0" lvl="0" marL="0" marR="0" rtl="0" algn="ctr">
              <a:lnSpc>
                <a:spcPct val="100000"/>
              </a:lnSpc>
              <a:spcBef>
                <a:spcPts val="0"/>
              </a:spcBef>
              <a:spcAft>
                <a:spcPts val="0"/>
              </a:spcAft>
              <a:buNone/>
            </a:pPr>
            <a:r>
              <a:rPr b="1" i="0" lang="en-GB" sz="1500" u="none" cap="none" strike="noStrike">
                <a:solidFill>
                  <a:srgbClr val="3070C4"/>
                </a:solidFill>
                <a:latin typeface="Play"/>
                <a:ea typeface="Play"/>
                <a:cs typeface="Play"/>
                <a:sym typeface="Play"/>
              </a:rPr>
              <a:t>Snapshot A — Topology Explorer</a:t>
            </a:r>
            <a:endParaRPr/>
          </a:p>
          <a:p>
            <a:pPr indent="0" lvl="0" marL="0" marR="0" rtl="0" algn="l">
              <a:lnSpc>
                <a:spcPct val="100000"/>
              </a:lnSpc>
              <a:spcBef>
                <a:spcPts val="500"/>
              </a:spcBef>
              <a:spcAft>
                <a:spcPts val="0"/>
              </a:spcAft>
              <a:buNone/>
            </a:pPr>
            <a:r>
              <a:rPr b="0" i="0" lang="en-GB" sz="1200" u="none" cap="none" strike="noStrike">
                <a:solidFill>
                  <a:srgbClr val="2B3441"/>
                </a:solidFill>
                <a:latin typeface="Arial"/>
                <a:ea typeface="Arial"/>
                <a:cs typeface="Arial"/>
                <a:sym typeface="Arial"/>
              </a:rPr>
              <a:t>Planned prototype screen</a:t>
            </a:r>
            <a:br>
              <a:rPr b="0" i="0" lang="en-GB" sz="1400" u="none" cap="none" strike="noStrike">
                <a:solidFill>
                  <a:schemeClr val="lt1"/>
                </a:solidFill>
                <a:latin typeface="Arial"/>
                <a:ea typeface="Arial"/>
                <a:cs typeface="Arial"/>
                <a:sym typeface="Arial"/>
              </a:rPr>
            </a:br>
            <a:r>
              <a:rPr b="0" i="0" lang="en-GB" sz="1200" u="none" cap="none" strike="noStrike">
                <a:solidFill>
                  <a:srgbClr val="2B3441"/>
                </a:solidFill>
                <a:latin typeface="Arial"/>
                <a:ea typeface="Arial"/>
                <a:cs typeface="Arial"/>
                <a:sym typeface="Arial"/>
              </a:rPr>
              <a:t>• Namespace filter</a:t>
            </a:r>
            <a:br>
              <a:rPr b="0" i="0" lang="en-GB" sz="1400" u="none" cap="none" strike="noStrike">
                <a:solidFill>
                  <a:schemeClr val="lt1"/>
                </a:solidFill>
                <a:latin typeface="Arial"/>
                <a:ea typeface="Arial"/>
                <a:cs typeface="Arial"/>
                <a:sym typeface="Arial"/>
              </a:rPr>
            </a:br>
            <a:r>
              <a:rPr b="0" i="0" lang="en-GB" sz="1200" u="none" cap="none" strike="noStrike">
                <a:solidFill>
                  <a:srgbClr val="2B3441"/>
                </a:solidFill>
                <a:latin typeface="Arial"/>
                <a:ea typeface="Arial"/>
                <a:cs typeface="Arial"/>
                <a:sym typeface="Arial"/>
              </a:rPr>
              <a:t>• Interactive resource graph</a:t>
            </a:r>
            <a:br>
              <a:rPr b="0" i="0" lang="en-GB" sz="1400" u="none" cap="none" strike="noStrike">
                <a:solidFill>
                  <a:schemeClr val="lt1"/>
                </a:solidFill>
                <a:latin typeface="Arial"/>
                <a:ea typeface="Arial"/>
                <a:cs typeface="Arial"/>
                <a:sym typeface="Arial"/>
              </a:rPr>
            </a:br>
            <a:r>
              <a:rPr b="0" i="0" lang="en-GB" sz="1200" u="none" cap="none" strike="noStrike">
                <a:solidFill>
                  <a:srgbClr val="2B3441"/>
                </a:solidFill>
                <a:latin typeface="Arial"/>
                <a:ea typeface="Arial"/>
                <a:cs typeface="Arial"/>
                <a:sym typeface="Arial"/>
              </a:rPr>
              <a:t>• Status and ownership details</a:t>
            </a:r>
            <a:br>
              <a:rPr b="0" i="0" lang="en-GB" sz="1400" u="none" cap="none" strike="noStrike">
                <a:solidFill>
                  <a:schemeClr val="lt1"/>
                </a:solidFill>
                <a:latin typeface="Arial"/>
                <a:ea typeface="Arial"/>
                <a:cs typeface="Arial"/>
                <a:sym typeface="Arial"/>
              </a:rPr>
            </a:br>
            <a:r>
              <a:rPr b="0" i="0" lang="en-GB" sz="1200" u="none" cap="none" strike="noStrike">
                <a:solidFill>
                  <a:srgbClr val="2B3441"/>
                </a:solidFill>
                <a:latin typeface="Arial"/>
                <a:ea typeface="Arial"/>
                <a:cs typeface="Arial"/>
                <a:sym typeface="Arial"/>
              </a:rPr>
              <a:t>• Click-through dependency inspection</a:t>
            </a:r>
            <a:endParaRPr/>
          </a:p>
        </p:txBody>
      </p:sp>
      <p:sp>
        <p:nvSpPr>
          <p:cNvPr id="194" name="Google Shape;194;p10"/>
          <p:cNvSpPr/>
          <p:nvPr/>
        </p:nvSpPr>
        <p:spPr>
          <a:xfrm>
            <a:off x="4709160" y="1645920"/>
            <a:ext cx="3657600" cy="2103120"/>
          </a:xfrm>
          <a:prstGeom prst="roundRect">
            <a:avLst>
              <a:gd fmla="val 16667" name="adj"/>
            </a:avLst>
          </a:prstGeom>
          <a:solidFill>
            <a:srgbClr val="F6F9FD"/>
          </a:solidFill>
          <a:ln cap="flat" cmpd="sng" w="16500">
            <a:solidFill>
              <a:srgbClr val="2A916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73150" lIns="109725" spcFirstLastPara="1" rIns="109725" wrap="square" tIns="91425">
            <a:noAutofit/>
          </a:bodyPr>
          <a:lstStyle/>
          <a:p>
            <a:pPr indent="0" lvl="0" marL="0" marR="0" rtl="0" algn="ctr">
              <a:lnSpc>
                <a:spcPct val="100000"/>
              </a:lnSpc>
              <a:spcBef>
                <a:spcPts val="0"/>
              </a:spcBef>
              <a:spcAft>
                <a:spcPts val="0"/>
              </a:spcAft>
              <a:buNone/>
            </a:pPr>
            <a:r>
              <a:rPr b="1" i="0" lang="en-GB" sz="1500" u="none" cap="none" strike="noStrike">
                <a:solidFill>
                  <a:srgbClr val="2A916C"/>
                </a:solidFill>
                <a:latin typeface="Play"/>
                <a:ea typeface="Play"/>
                <a:cs typeface="Play"/>
                <a:sym typeface="Play"/>
              </a:rPr>
              <a:t>Snapshot B — AI Impact Analysis</a:t>
            </a:r>
            <a:endParaRPr/>
          </a:p>
          <a:p>
            <a:pPr indent="0" lvl="0" marL="0" marR="0" rtl="0" algn="l">
              <a:lnSpc>
                <a:spcPct val="100000"/>
              </a:lnSpc>
              <a:spcBef>
                <a:spcPts val="500"/>
              </a:spcBef>
              <a:spcAft>
                <a:spcPts val="0"/>
              </a:spcAft>
              <a:buNone/>
            </a:pPr>
            <a:r>
              <a:rPr b="0" i="0" lang="en-GB" sz="1200" u="none" cap="none" strike="noStrike">
                <a:solidFill>
                  <a:srgbClr val="2B3441"/>
                </a:solidFill>
                <a:latin typeface="Arial"/>
                <a:ea typeface="Arial"/>
                <a:cs typeface="Arial"/>
                <a:sym typeface="Arial"/>
              </a:rPr>
              <a:t>Planned prototype screen</a:t>
            </a:r>
            <a:br>
              <a:rPr b="0" i="0" lang="en-GB" sz="1400" u="none" cap="none" strike="noStrike">
                <a:solidFill>
                  <a:schemeClr val="lt1"/>
                </a:solidFill>
                <a:latin typeface="Arial"/>
                <a:ea typeface="Arial"/>
                <a:cs typeface="Arial"/>
                <a:sym typeface="Arial"/>
              </a:rPr>
            </a:br>
            <a:r>
              <a:rPr b="0" i="0" lang="en-GB" sz="1200" u="none" cap="none" strike="noStrike">
                <a:solidFill>
                  <a:srgbClr val="2B3441"/>
                </a:solidFill>
                <a:latin typeface="Arial"/>
                <a:ea typeface="Arial"/>
                <a:cs typeface="Arial"/>
                <a:sym typeface="Arial"/>
              </a:rPr>
              <a:t>• Natural-language question</a:t>
            </a:r>
            <a:br>
              <a:rPr b="0" i="0" lang="en-GB" sz="1400" u="none" cap="none" strike="noStrike">
                <a:solidFill>
                  <a:schemeClr val="lt1"/>
                </a:solidFill>
                <a:latin typeface="Arial"/>
                <a:ea typeface="Arial"/>
                <a:cs typeface="Arial"/>
                <a:sym typeface="Arial"/>
              </a:rPr>
            </a:br>
            <a:r>
              <a:rPr b="0" i="0" lang="en-GB" sz="1200" u="none" cap="none" strike="noStrike">
                <a:solidFill>
                  <a:srgbClr val="2B3441"/>
                </a:solidFill>
                <a:latin typeface="Arial"/>
                <a:ea typeface="Arial"/>
                <a:cs typeface="Arial"/>
                <a:sym typeface="Arial"/>
              </a:rPr>
              <a:t>• Affected services and graph highlights</a:t>
            </a:r>
            <a:br>
              <a:rPr b="0" i="0" lang="en-GB" sz="1400" u="none" cap="none" strike="noStrike">
                <a:solidFill>
                  <a:schemeClr val="lt1"/>
                </a:solidFill>
                <a:latin typeface="Arial"/>
                <a:ea typeface="Arial"/>
                <a:cs typeface="Arial"/>
                <a:sym typeface="Arial"/>
              </a:rPr>
            </a:br>
            <a:r>
              <a:rPr b="0" i="0" lang="en-GB" sz="1200" u="none" cap="none" strike="noStrike">
                <a:solidFill>
                  <a:srgbClr val="2B3441"/>
                </a:solidFill>
                <a:latin typeface="Arial"/>
                <a:ea typeface="Arial"/>
                <a:cs typeface="Arial"/>
                <a:sym typeface="Arial"/>
              </a:rPr>
              <a:t>• Evidence-backed explanation</a:t>
            </a:r>
            <a:br>
              <a:rPr b="0" i="0" lang="en-GB" sz="1400" u="none" cap="none" strike="noStrike">
                <a:solidFill>
                  <a:schemeClr val="lt1"/>
                </a:solidFill>
                <a:latin typeface="Arial"/>
                <a:ea typeface="Arial"/>
                <a:cs typeface="Arial"/>
                <a:sym typeface="Arial"/>
              </a:rPr>
            </a:br>
            <a:r>
              <a:rPr b="0" i="0" lang="en-GB" sz="1200" u="none" cap="none" strike="noStrike">
                <a:solidFill>
                  <a:srgbClr val="2B3441"/>
                </a:solidFill>
                <a:latin typeface="Arial"/>
                <a:ea typeface="Arial"/>
                <a:cs typeface="Arial"/>
                <a:sym typeface="Arial"/>
              </a:rPr>
              <a:t>• Markdown / Mermaid export</a:t>
            </a:r>
            <a:endParaRPr/>
          </a:p>
        </p:txBody>
      </p:sp>
      <p:sp>
        <p:nvSpPr>
          <p:cNvPr id="195" name="Google Shape;195;p10"/>
          <p:cNvSpPr txBox="1"/>
          <p:nvPr/>
        </p:nvSpPr>
        <p:spPr>
          <a:xfrm>
            <a:off x="685800" y="4160520"/>
            <a:ext cx="7955279" cy="411480"/>
          </a:xfrm>
          <a:prstGeom prst="rect">
            <a:avLst/>
          </a:prstGeom>
          <a:noFill/>
          <a:ln>
            <a:noFill/>
          </a:ln>
        </p:spPr>
        <p:txBody>
          <a:bodyPr anchorCtr="0" anchor="t" bIns="73150" lIns="73150" spcFirstLastPara="1" rIns="73150" wrap="square" tIns="73150">
            <a:spAutoFit/>
          </a:bodyPr>
          <a:lstStyle/>
          <a:p>
            <a:pPr indent="0" lvl="0" marL="0" marR="0" rtl="0" algn="l">
              <a:lnSpc>
                <a:spcPct val="100000"/>
              </a:lnSpc>
              <a:spcBef>
                <a:spcPts val="0"/>
              </a:spcBef>
              <a:spcAft>
                <a:spcPts val="0"/>
              </a:spcAft>
              <a:buNone/>
            </a:pPr>
            <a:r>
              <a:rPr b="1" i="0" lang="en-GB" sz="1200" u="none" cap="none" strike="noStrike">
                <a:solidFill>
                  <a:srgbClr val="647080"/>
                </a:solidFill>
                <a:latin typeface="Arial"/>
                <a:ea typeface="Arial"/>
                <a:cs typeface="Arial"/>
                <a:sym typeface="Arial"/>
              </a:rPr>
              <a:t>Prototype screenshots will replace these placeholders after the MVP is implemented.</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pic>
        <p:nvPicPr>
          <p:cNvPr id="200" name="Google Shape;200;p12"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201" name="Google Shape;201;p12" title="Group 427319979.png"/>
          <p:cNvPicPr preferRelativeResize="0"/>
          <p:nvPr/>
        </p:nvPicPr>
        <p:blipFill rotWithShape="1">
          <a:blip r:embed="rId4">
            <a:alphaModFix/>
          </a:blip>
          <a:srcRect b="0" l="0" r="0" t="0"/>
          <a:stretch/>
        </p:blipFill>
        <p:spPr>
          <a:xfrm>
            <a:off x="0" y="1"/>
            <a:ext cx="9144000" cy="507359"/>
          </a:xfrm>
          <a:prstGeom prst="rect">
            <a:avLst/>
          </a:prstGeom>
          <a:noFill/>
          <a:ln>
            <a:noFill/>
          </a:ln>
        </p:spPr>
      </p:pic>
      <p:sp>
        <p:nvSpPr>
          <p:cNvPr id="202" name="Google Shape;202;p12"/>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12"/>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rgbClr val="000000"/>
                </a:solidFill>
                <a:latin typeface="Google Sans Flex Medium"/>
                <a:ea typeface="Google Sans Flex Medium"/>
                <a:cs typeface="Google Sans Flex Medium"/>
                <a:sym typeface="Google Sans Flex Medium"/>
              </a:rPr>
              <a:t>Additional Details/Future Development (if any)</a:t>
            </a:r>
            <a:endParaRPr b="0" i="0" sz="1600" u="none" cap="none" strike="noStrike">
              <a:solidFill>
                <a:srgbClr val="000000"/>
              </a:solidFill>
              <a:latin typeface="Google Sans Flex Medium"/>
              <a:ea typeface="Google Sans Flex Medium"/>
              <a:cs typeface="Google Sans Flex Medium"/>
              <a:sym typeface="Google Sans Flex Medium"/>
            </a:endParaRPr>
          </a:p>
        </p:txBody>
      </p:sp>
      <p:sp>
        <p:nvSpPr>
          <p:cNvPr id="204" name="Google Shape;204;p12"/>
          <p:cNvSpPr txBox="1"/>
          <p:nvPr/>
        </p:nvSpPr>
        <p:spPr>
          <a:xfrm>
            <a:off x="566928" y="1508760"/>
            <a:ext cx="8092440" cy="3246120"/>
          </a:xfrm>
          <a:prstGeom prst="rect">
            <a:avLst/>
          </a:prstGeom>
          <a:noFill/>
          <a:ln>
            <a:noFill/>
          </a:ln>
        </p:spPr>
        <p:txBody>
          <a:bodyPr anchorCtr="0" anchor="t" bIns="36575" lIns="109725" spcFirstLastPara="1" rIns="109725" wrap="square" tIns="73150">
            <a:spAutoFit/>
          </a:bodyPr>
          <a:lstStyle/>
          <a:p>
            <a:pPr indent="0" lvl="0" marL="0" marR="0" rtl="0" algn="l">
              <a:lnSpc>
                <a:spcPct val="100000"/>
              </a:lnSpc>
              <a:spcBef>
                <a:spcPts val="0"/>
              </a:spcBef>
              <a:spcAft>
                <a:spcPts val="0"/>
              </a:spcAft>
              <a:buNone/>
            </a:pPr>
            <a:r>
              <a:rPr b="0" i="0" lang="en-GB" sz="1400" u="none" cap="none" strike="noStrike">
                <a:solidFill>
                  <a:srgbClr val="2B3441"/>
                </a:solidFill>
                <a:latin typeface="Arial"/>
                <a:ea typeface="Arial"/>
                <a:cs typeface="Arial"/>
                <a:sym typeface="Arial"/>
              </a:rPr>
              <a:t>• Add historical snapshots and topology diffs to explain what changed between deployments.</a:t>
            </a:r>
            <a:endParaRPr/>
          </a:p>
          <a:p>
            <a:pPr indent="0" lvl="0" marL="0" marR="0" rtl="0" algn="l">
              <a:lnSpc>
                <a:spcPct val="100000"/>
              </a:lnSpc>
              <a:spcBef>
                <a:spcPts val="800"/>
              </a:spcBef>
              <a:spcAft>
                <a:spcPts val="0"/>
              </a:spcAft>
              <a:buNone/>
            </a:pPr>
            <a:r>
              <a:rPr b="0" i="0" lang="en-GB" sz="1400" u="none" cap="none" strike="noStrike">
                <a:solidFill>
                  <a:srgbClr val="2B3441"/>
                </a:solidFill>
                <a:latin typeface="Arial"/>
                <a:ea typeface="Arial"/>
                <a:cs typeface="Arial"/>
                <a:sym typeface="Arial"/>
              </a:rPr>
              <a:t>• Integrate Prometheus metrics and Kubernetes Events to correlate architecture with operational health.</a:t>
            </a:r>
            <a:endParaRPr/>
          </a:p>
          <a:p>
            <a:pPr indent="0" lvl="0" marL="0" marR="0" rtl="0" algn="l">
              <a:lnSpc>
                <a:spcPct val="100000"/>
              </a:lnSpc>
              <a:spcBef>
                <a:spcPts val="800"/>
              </a:spcBef>
              <a:spcAft>
                <a:spcPts val="0"/>
              </a:spcAft>
              <a:buNone/>
            </a:pPr>
            <a:r>
              <a:rPr b="0" i="0" lang="en-GB" sz="1400" u="none" cap="none" strike="noStrike">
                <a:solidFill>
                  <a:srgbClr val="2B3441"/>
                </a:solidFill>
                <a:latin typeface="Arial"/>
                <a:ea typeface="Arial"/>
                <a:cs typeface="Arial"/>
                <a:sym typeface="Arial"/>
              </a:rPr>
              <a:t>• Add GitOps context from Argo CD / Helm and compare desired state with live state.</a:t>
            </a:r>
            <a:endParaRPr/>
          </a:p>
          <a:p>
            <a:pPr indent="0" lvl="0" marL="0" marR="0" rtl="0" algn="l">
              <a:lnSpc>
                <a:spcPct val="100000"/>
              </a:lnSpc>
              <a:spcBef>
                <a:spcPts val="800"/>
              </a:spcBef>
              <a:spcAft>
                <a:spcPts val="0"/>
              </a:spcAft>
              <a:buNone/>
            </a:pPr>
            <a:r>
              <a:rPr b="0" i="0" lang="en-GB" sz="1400" u="none" cap="none" strike="noStrike">
                <a:solidFill>
                  <a:srgbClr val="2B3441"/>
                </a:solidFill>
                <a:latin typeface="Arial"/>
                <a:ea typeface="Arial"/>
                <a:cs typeface="Arial"/>
                <a:sym typeface="Arial"/>
              </a:rPr>
              <a:t>• Support multi-cluster views, team-based access, and audit-friendly exports.</a:t>
            </a:r>
            <a:endParaRPr/>
          </a:p>
          <a:p>
            <a:pPr indent="0" lvl="0" marL="0" marR="0" rtl="0" algn="l">
              <a:lnSpc>
                <a:spcPct val="100000"/>
              </a:lnSpc>
              <a:spcBef>
                <a:spcPts val="800"/>
              </a:spcBef>
              <a:spcAft>
                <a:spcPts val="0"/>
              </a:spcAft>
              <a:buNone/>
            </a:pPr>
            <a:r>
              <a:rPr b="0" i="0" lang="en-GB" sz="1400" u="none" cap="none" strike="noStrike">
                <a:solidFill>
                  <a:srgbClr val="2B3441"/>
                </a:solidFill>
                <a:latin typeface="Arial"/>
                <a:ea typeface="Arial"/>
                <a:cs typeface="Arial"/>
                <a:sym typeface="Arial"/>
              </a:rPr>
              <a:t>• Introduce optional risk scoring for planned changes and deployment impact previews.</a:t>
            </a:r>
            <a:endParaRPr/>
          </a:p>
          <a:p>
            <a:pPr indent="0" lvl="0" marL="0" marR="0" rtl="0" algn="l">
              <a:lnSpc>
                <a:spcPct val="100000"/>
              </a:lnSpc>
              <a:spcBef>
                <a:spcPts val="800"/>
              </a:spcBef>
              <a:spcAft>
                <a:spcPts val="0"/>
              </a:spcAft>
              <a:buNone/>
            </a:pPr>
            <a:r>
              <a:rPr b="0" i="0" lang="en-GB" sz="1400" u="none" cap="none" strike="noStrike">
                <a:solidFill>
                  <a:srgbClr val="2B3441"/>
                </a:solidFill>
                <a:latin typeface="Arial"/>
                <a:ea typeface="Arial"/>
                <a:cs typeface="Arial"/>
                <a:sym typeface="Arial"/>
              </a:rPr>
              <a:t>• Add pluggable policy checks and integrations with incident-management workflows.</a:t>
            </a:r>
            <a:endParaRPr/>
          </a:p>
        </p:txBody>
      </p:sp>
      <p:sp>
        <p:nvSpPr>
          <p:cNvPr id="205" name="Google Shape;205;p12"/>
          <p:cNvSpPr txBox="1"/>
          <p:nvPr/>
        </p:nvSpPr>
        <p:spPr>
          <a:xfrm>
            <a:off x="640080" y="4709160"/>
            <a:ext cx="8046720" cy="384048"/>
          </a:xfrm>
          <a:prstGeom prst="rect">
            <a:avLst/>
          </a:prstGeom>
          <a:noFill/>
          <a:ln>
            <a:noFill/>
          </a:ln>
        </p:spPr>
        <p:txBody>
          <a:bodyPr anchorCtr="0" anchor="t" bIns="73150" lIns="73150" spcFirstLastPara="1" rIns="73150" wrap="square" tIns="73150">
            <a:spAutoFit/>
          </a:bodyPr>
          <a:lstStyle/>
          <a:p>
            <a:pPr indent="0" lvl="0" marL="0" marR="0" rtl="0" algn="l">
              <a:lnSpc>
                <a:spcPct val="100000"/>
              </a:lnSpc>
              <a:spcBef>
                <a:spcPts val="0"/>
              </a:spcBef>
              <a:spcAft>
                <a:spcPts val="0"/>
              </a:spcAft>
              <a:buNone/>
            </a:pPr>
            <a:r>
              <a:rPr b="1" i="0" lang="en-GB" sz="1300" u="none" cap="none" strike="noStrike">
                <a:solidFill>
                  <a:srgbClr val="182D4E"/>
                </a:solidFill>
                <a:latin typeface="Arial"/>
                <a:ea typeface="Arial"/>
                <a:cs typeface="Arial"/>
                <a:sym typeface="Arial"/>
              </a:rPr>
              <a:t>Product principle: explain first, provide evidence, and keep cluster access least-privileged by default.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pic>
        <p:nvPicPr>
          <p:cNvPr id="210" name="Google Shape;210;p13"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211" name="Google Shape;211;p13" title="Group 427319979.png"/>
          <p:cNvPicPr preferRelativeResize="0"/>
          <p:nvPr/>
        </p:nvPicPr>
        <p:blipFill rotWithShape="1">
          <a:blip r:embed="rId4">
            <a:alphaModFix/>
          </a:blip>
          <a:srcRect b="0" l="0" r="0" t="0"/>
          <a:stretch/>
        </p:blipFill>
        <p:spPr>
          <a:xfrm>
            <a:off x="0" y="1"/>
            <a:ext cx="9144000" cy="507359"/>
          </a:xfrm>
          <a:prstGeom prst="rect">
            <a:avLst/>
          </a:prstGeom>
          <a:noFill/>
          <a:ln>
            <a:noFill/>
          </a:ln>
        </p:spPr>
      </p:pic>
      <p:sp>
        <p:nvSpPr>
          <p:cNvPr id="212" name="Google Shape;212;p13"/>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p13"/>
          <p:cNvSpPr txBox="1"/>
          <p:nvPr/>
        </p:nvSpPr>
        <p:spPr>
          <a:xfrm>
            <a:off x="265350" y="663825"/>
            <a:ext cx="8943000" cy="1333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rgbClr val="000000"/>
                </a:solidFill>
                <a:latin typeface="Google Sans Flex Medium"/>
                <a:ea typeface="Google Sans Flex Medium"/>
                <a:cs typeface="Google Sans Flex Medium"/>
                <a:sym typeface="Google Sans Flex Medium"/>
              </a:rPr>
              <a:t>Provide links to your:</a:t>
            </a:r>
            <a:endParaRPr b="0" i="0" sz="1600" u="none" cap="none" strike="noStrike">
              <a:solidFill>
                <a:srgbClr val="000000"/>
              </a:solidFill>
              <a:latin typeface="Google Sans Flex Medium"/>
              <a:ea typeface="Google Sans Flex Medium"/>
              <a:cs typeface="Google Sans Flex Medium"/>
              <a:sym typeface="Google Sans Flex Medium"/>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Google Sans Flex Medium"/>
              <a:ea typeface="Google Sans Flex Medium"/>
              <a:cs typeface="Google Sans Flex Medium"/>
              <a:sym typeface="Google Sans Flex Medium"/>
            </a:endParaRPr>
          </a:p>
          <a:p>
            <a:pPr indent="-317500" lvl="0" marL="457200" marR="0" rtl="0" algn="l">
              <a:lnSpc>
                <a:spcPct val="100000"/>
              </a:lnSpc>
              <a:spcBef>
                <a:spcPts val="0"/>
              </a:spcBef>
              <a:spcAft>
                <a:spcPts val="0"/>
              </a:spcAft>
              <a:buClr>
                <a:srgbClr val="000000"/>
              </a:buClr>
              <a:buSzPts val="1400"/>
              <a:buFont typeface="Google Sans Flex Medium"/>
              <a:buChar char="●"/>
            </a:pPr>
            <a:r>
              <a:rPr b="0" i="0" lang="en-GB" sz="1400" u="none" cap="none" strike="noStrike">
                <a:solidFill>
                  <a:srgbClr val="000000"/>
                </a:solidFill>
                <a:latin typeface="Google Sans Flex Medium"/>
                <a:ea typeface="Google Sans Flex Medium"/>
                <a:cs typeface="Google Sans Flex Medium"/>
                <a:sym typeface="Google Sans Flex Medium"/>
              </a:rPr>
              <a:t>GitHub Public Repository  </a:t>
            </a:r>
            <a:endParaRPr b="0" i="0" sz="1400" u="none" cap="none" strike="noStrike">
              <a:solidFill>
                <a:srgbClr val="000000"/>
              </a:solidFill>
              <a:latin typeface="Google Sans Flex Medium"/>
              <a:ea typeface="Google Sans Flex Medium"/>
              <a:cs typeface="Google Sans Flex Medium"/>
              <a:sym typeface="Google Sans Flex Medium"/>
            </a:endParaRPr>
          </a:p>
          <a:p>
            <a:pPr indent="-317500" lvl="0" marL="457200" marR="0" rtl="0" algn="l">
              <a:lnSpc>
                <a:spcPct val="100000"/>
              </a:lnSpc>
              <a:spcBef>
                <a:spcPts val="0"/>
              </a:spcBef>
              <a:spcAft>
                <a:spcPts val="0"/>
              </a:spcAft>
              <a:buClr>
                <a:srgbClr val="000000"/>
              </a:buClr>
              <a:buSzPts val="1400"/>
              <a:buFont typeface="Google Sans Flex Medium"/>
              <a:buChar char="●"/>
            </a:pPr>
            <a:r>
              <a:rPr b="0" i="0" lang="en-GB" sz="1400" u="none" cap="none" strike="noStrike">
                <a:solidFill>
                  <a:srgbClr val="000000"/>
                </a:solidFill>
                <a:latin typeface="Google Sans Flex Medium"/>
                <a:ea typeface="Google Sans Flex Medium"/>
                <a:cs typeface="Google Sans Flex Medium"/>
                <a:sym typeface="Google Sans Flex Medium"/>
              </a:rPr>
              <a:t>Demo Video Link (3 Minutes) </a:t>
            </a:r>
            <a:endParaRPr b="0" i="0" sz="1400" u="none" cap="none" strike="noStrike">
              <a:solidFill>
                <a:srgbClr val="000000"/>
              </a:solidFill>
              <a:latin typeface="Google Sans Flex Medium"/>
              <a:ea typeface="Google Sans Flex Medium"/>
              <a:cs typeface="Google Sans Flex Medium"/>
              <a:sym typeface="Google Sans Flex Medium"/>
            </a:endParaRPr>
          </a:p>
          <a:p>
            <a:pPr indent="-317500" lvl="0" marL="457200" marR="0" rtl="0" algn="l">
              <a:lnSpc>
                <a:spcPct val="100000"/>
              </a:lnSpc>
              <a:spcBef>
                <a:spcPts val="0"/>
              </a:spcBef>
              <a:spcAft>
                <a:spcPts val="0"/>
              </a:spcAft>
              <a:buClr>
                <a:srgbClr val="000000"/>
              </a:buClr>
              <a:buSzPts val="1400"/>
              <a:buFont typeface="Google Sans Flex Medium"/>
              <a:buChar char="●"/>
            </a:pPr>
            <a:r>
              <a:rPr b="0" i="0" lang="en-GB" sz="1400" u="none" cap="none" strike="noStrike">
                <a:solidFill>
                  <a:srgbClr val="000000"/>
                </a:solidFill>
                <a:latin typeface="Google Sans Flex Medium"/>
                <a:ea typeface="Google Sans Flex Medium"/>
                <a:cs typeface="Google Sans Flex Medium"/>
                <a:sym typeface="Google Sans Flex Medium"/>
              </a:rPr>
              <a:t>Final Product Link </a:t>
            </a:r>
            <a:endParaRPr b="0" i="0" sz="1400" u="none" cap="none" strike="noStrike">
              <a:solidFill>
                <a:srgbClr val="000000"/>
              </a:solidFill>
              <a:latin typeface="Google Sans Flex Medium"/>
              <a:ea typeface="Google Sans Flex Medium"/>
              <a:cs typeface="Google Sans Flex Medium"/>
              <a:sym typeface="Google Sans Flex Medium"/>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Google Sans Flex Medium"/>
              <a:ea typeface="Google Sans Flex Medium"/>
              <a:cs typeface="Google Sans Flex Medium"/>
              <a:sym typeface="Google Sans Flex Medium"/>
            </a:endParaRPr>
          </a:p>
        </p:txBody>
      </p:sp>
      <p:sp>
        <p:nvSpPr>
          <p:cNvPr id="214" name="Google Shape;214;p13"/>
          <p:cNvSpPr txBox="1"/>
          <p:nvPr/>
        </p:nvSpPr>
        <p:spPr>
          <a:xfrm>
            <a:off x="525765" y="1895830"/>
            <a:ext cx="8138100" cy="393900"/>
          </a:xfrm>
          <a:prstGeom prst="rect">
            <a:avLst/>
          </a:prstGeom>
          <a:noFill/>
          <a:ln>
            <a:noFill/>
          </a:ln>
        </p:spPr>
        <p:txBody>
          <a:bodyPr anchorCtr="0" anchor="t" bIns="73150" lIns="73150" spcFirstLastPara="1" rIns="73150" wrap="square" tIns="73150">
            <a:spAutoFit/>
          </a:bodyPr>
          <a:lstStyle/>
          <a:p>
            <a:pPr indent="0" lvl="0" marL="0" marR="0" rtl="0" algn="l">
              <a:lnSpc>
                <a:spcPct val="100000"/>
              </a:lnSpc>
              <a:spcBef>
                <a:spcPts val="0"/>
              </a:spcBef>
              <a:spcAft>
                <a:spcPts val="0"/>
              </a:spcAft>
              <a:buNone/>
            </a:pPr>
            <a:r>
              <a:rPr b="1" i="0" lang="en-GB" sz="1600" u="none" cap="none" strike="noStrike">
                <a:solidFill>
                  <a:srgbClr val="182D4E"/>
                </a:solidFill>
                <a:latin typeface="Arial"/>
                <a:ea typeface="Arial"/>
                <a:cs typeface="Arial"/>
                <a:sym typeface="Arial"/>
              </a:rPr>
              <a:t>Links will be added when the repository and demo are available.</a:t>
            </a:r>
            <a:endParaRPr/>
          </a:p>
        </p:txBody>
      </p:sp>
      <p:sp>
        <p:nvSpPr>
          <p:cNvPr id="215" name="Google Shape;215;p13"/>
          <p:cNvSpPr/>
          <p:nvPr/>
        </p:nvSpPr>
        <p:spPr>
          <a:xfrm>
            <a:off x="594360" y="2240280"/>
            <a:ext cx="2514600" cy="1005840"/>
          </a:xfrm>
          <a:prstGeom prst="roundRect">
            <a:avLst>
              <a:gd fmla="val 16667" name="adj"/>
            </a:avLst>
          </a:prstGeom>
          <a:solidFill>
            <a:srgbClr val="EBF3FC"/>
          </a:solidFill>
          <a:ln cap="flat" cmpd="sng" w="16500">
            <a:solidFill>
              <a:srgbClr val="3070C4"/>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73150" lIns="109725" spcFirstLastPara="1" rIns="109725" wrap="square" tIns="91425">
            <a:noAutofit/>
          </a:bodyPr>
          <a:lstStyle/>
          <a:p>
            <a:pPr indent="0" lvl="0" marL="0" marR="0" rtl="0" algn="ctr">
              <a:lnSpc>
                <a:spcPct val="100000"/>
              </a:lnSpc>
              <a:spcBef>
                <a:spcPts val="0"/>
              </a:spcBef>
              <a:spcAft>
                <a:spcPts val="0"/>
              </a:spcAft>
              <a:buNone/>
            </a:pPr>
            <a:r>
              <a:rPr b="1" i="0" lang="en-GB" sz="1300" u="none" cap="none" strike="noStrike">
                <a:solidFill>
                  <a:srgbClr val="3070C4"/>
                </a:solidFill>
                <a:latin typeface="Play"/>
                <a:ea typeface="Play"/>
                <a:cs typeface="Play"/>
                <a:sym typeface="Play"/>
              </a:rPr>
              <a:t>GitHub Public Repository</a:t>
            </a:r>
            <a:br>
              <a:rPr b="1" i="0" lang="en-GB" sz="1300" u="none" cap="none" strike="noStrike">
                <a:solidFill>
                  <a:srgbClr val="3070C4"/>
                </a:solidFill>
                <a:latin typeface="Play"/>
                <a:ea typeface="Play"/>
                <a:cs typeface="Play"/>
                <a:sym typeface="Play"/>
              </a:rPr>
            </a:br>
            <a:endParaRPr/>
          </a:p>
          <a:p>
            <a:pPr indent="0" lvl="0" marL="0" rtl="0" algn="l">
              <a:spcBef>
                <a:spcPts val="0"/>
              </a:spcBef>
              <a:spcAft>
                <a:spcPts val="0"/>
              </a:spcAft>
              <a:buNone/>
            </a:pPr>
            <a:r>
              <a:rPr lang="en-GB" sz="900">
                <a:solidFill>
                  <a:schemeClr val="dk1"/>
                </a:solidFill>
                <a:latin typeface="Google Sans Flex Medium"/>
                <a:ea typeface="Google Sans Flex Medium"/>
                <a:cs typeface="Google Sans Flex Medium"/>
                <a:sym typeface="Google Sans Flex Medium"/>
              </a:rPr>
              <a:t>https://github.com/AIBuilderCup-ClusterMind/ClusterMind</a:t>
            </a:r>
            <a:endParaRPr sz="900"/>
          </a:p>
        </p:txBody>
      </p:sp>
      <p:sp>
        <p:nvSpPr>
          <p:cNvPr id="216" name="Google Shape;216;p13"/>
          <p:cNvSpPr/>
          <p:nvPr/>
        </p:nvSpPr>
        <p:spPr>
          <a:xfrm>
            <a:off x="3337560" y="2240280"/>
            <a:ext cx="2514600" cy="1005840"/>
          </a:xfrm>
          <a:prstGeom prst="roundRect">
            <a:avLst>
              <a:gd fmla="val 16667" name="adj"/>
            </a:avLst>
          </a:prstGeom>
          <a:solidFill>
            <a:srgbClr val="F6F9FD"/>
          </a:solidFill>
          <a:ln cap="flat" cmpd="sng" w="16500">
            <a:solidFill>
              <a:srgbClr val="34ACB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73150" lIns="109725" spcFirstLastPara="1" rIns="109725" wrap="square" tIns="91425">
            <a:noAutofit/>
          </a:bodyPr>
          <a:lstStyle/>
          <a:p>
            <a:pPr indent="0" lvl="0" marL="0" marR="0" rtl="0" algn="ctr">
              <a:lnSpc>
                <a:spcPct val="100000"/>
              </a:lnSpc>
              <a:spcBef>
                <a:spcPts val="0"/>
              </a:spcBef>
              <a:spcAft>
                <a:spcPts val="0"/>
              </a:spcAft>
              <a:buNone/>
            </a:pPr>
            <a:r>
              <a:rPr b="1" i="0" lang="en-GB" sz="1300" u="none" cap="none" strike="noStrike">
                <a:solidFill>
                  <a:srgbClr val="34ACBE"/>
                </a:solidFill>
                <a:latin typeface="Play"/>
                <a:ea typeface="Play"/>
                <a:cs typeface="Play"/>
                <a:sym typeface="Play"/>
              </a:rPr>
              <a:t>3-Minute Demo Video</a:t>
            </a:r>
            <a:endParaRPr/>
          </a:p>
          <a:p>
            <a:pPr indent="0" lvl="0" marL="0" marR="0" rtl="0" algn="l">
              <a:lnSpc>
                <a:spcPct val="100000"/>
              </a:lnSpc>
              <a:spcBef>
                <a:spcPts val="500"/>
              </a:spcBef>
              <a:spcAft>
                <a:spcPts val="0"/>
              </a:spcAft>
              <a:buNone/>
            </a:pPr>
            <a:r>
              <a:rPr b="0" i="0" lang="en-GB" sz="1100" u="none" cap="none" strike="noStrike">
                <a:solidFill>
                  <a:srgbClr val="2B3441"/>
                </a:solidFill>
                <a:latin typeface="Arial"/>
                <a:ea typeface="Arial"/>
                <a:cs typeface="Arial"/>
                <a:sym typeface="Arial"/>
              </a:rPr>
              <a:t>[Video URL]</a:t>
            </a:r>
            <a:endParaRPr/>
          </a:p>
        </p:txBody>
      </p:sp>
      <p:sp>
        <p:nvSpPr>
          <p:cNvPr id="217" name="Google Shape;217;p13"/>
          <p:cNvSpPr/>
          <p:nvPr/>
        </p:nvSpPr>
        <p:spPr>
          <a:xfrm>
            <a:off x="6080760" y="2240280"/>
            <a:ext cx="2514600" cy="1005840"/>
          </a:xfrm>
          <a:prstGeom prst="roundRect">
            <a:avLst>
              <a:gd fmla="val 16667" name="adj"/>
            </a:avLst>
          </a:prstGeom>
          <a:solidFill>
            <a:srgbClr val="EBF3FC"/>
          </a:solidFill>
          <a:ln cap="flat" cmpd="sng" w="16500">
            <a:solidFill>
              <a:srgbClr val="2A916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73150" lIns="109725" spcFirstLastPara="1" rIns="109725" wrap="square" tIns="91425">
            <a:noAutofit/>
          </a:bodyPr>
          <a:lstStyle/>
          <a:p>
            <a:pPr indent="0" lvl="0" marL="0" marR="0" rtl="0" algn="ctr">
              <a:lnSpc>
                <a:spcPct val="100000"/>
              </a:lnSpc>
              <a:spcBef>
                <a:spcPts val="0"/>
              </a:spcBef>
              <a:spcAft>
                <a:spcPts val="0"/>
              </a:spcAft>
              <a:buNone/>
            </a:pPr>
            <a:r>
              <a:rPr b="1" i="0" lang="en-GB" sz="1300" u="none" cap="none" strike="noStrike">
                <a:solidFill>
                  <a:srgbClr val="2A916C"/>
                </a:solidFill>
                <a:latin typeface="Play"/>
                <a:ea typeface="Play"/>
                <a:cs typeface="Play"/>
                <a:sym typeface="Play"/>
              </a:rPr>
              <a:t>Final Product</a:t>
            </a:r>
            <a:endParaRPr/>
          </a:p>
          <a:p>
            <a:pPr indent="0" lvl="0" marL="0" marR="0" rtl="0" algn="l">
              <a:lnSpc>
                <a:spcPct val="100000"/>
              </a:lnSpc>
              <a:spcBef>
                <a:spcPts val="500"/>
              </a:spcBef>
              <a:spcAft>
                <a:spcPts val="0"/>
              </a:spcAft>
              <a:buNone/>
            </a:pPr>
            <a:r>
              <a:rPr b="0" i="0" lang="en-GB" sz="1100" u="none" cap="none" strike="noStrike">
                <a:solidFill>
                  <a:srgbClr val="2B3441"/>
                </a:solidFill>
                <a:latin typeface="Arial"/>
                <a:ea typeface="Arial"/>
                <a:cs typeface="Arial"/>
                <a:sym typeface="Arial"/>
              </a:rPr>
              <a:t>[Live demo URL]</a:t>
            </a:r>
            <a:endParaRPr/>
          </a:p>
        </p:txBody>
      </p:sp>
      <p:sp>
        <p:nvSpPr>
          <p:cNvPr id="218" name="Google Shape;218;p13"/>
          <p:cNvSpPr txBox="1"/>
          <p:nvPr/>
        </p:nvSpPr>
        <p:spPr>
          <a:xfrm>
            <a:off x="640080" y="3657600"/>
            <a:ext cx="8046600" cy="332400"/>
          </a:xfrm>
          <a:prstGeom prst="rect">
            <a:avLst/>
          </a:prstGeom>
          <a:noFill/>
          <a:ln>
            <a:noFill/>
          </a:ln>
        </p:spPr>
        <p:txBody>
          <a:bodyPr anchorCtr="0" anchor="t" bIns="73150" lIns="73150" spcFirstLastPara="1" rIns="73150" wrap="square" tIns="73150">
            <a:spAutoFit/>
          </a:bodyPr>
          <a:lstStyle/>
          <a:p>
            <a:pPr indent="0" lvl="0" marL="0" marR="0" rtl="0" algn="l">
              <a:lnSpc>
                <a:spcPct val="100000"/>
              </a:lnSpc>
              <a:spcBef>
                <a:spcPts val="0"/>
              </a:spcBef>
              <a:spcAft>
                <a:spcPts val="0"/>
              </a:spcAft>
              <a:buNone/>
            </a:pPr>
            <a:r>
              <a:rPr b="0" i="0" lang="en-GB" sz="1200" u="none" cap="none" strike="noStrike">
                <a:solidFill>
                  <a:srgbClr val="647080"/>
                </a:solidFill>
                <a:latin typeface="Arial"/>
                <a:ea typeface="Arial"/>
                <a:cs typeface="Arial"/>
                <a:sym typeface="Arial"/>
              </a:rPr>
              <a:t>Submission status: concept and MVP scope defined. Team name is ClusterMind</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pic>
        <p:nvPicPr>
          <p:cNvPr id="223" name="Google Shape;223;p15"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224" name="Google Shape;224;p15" title="Frame 145.png"/>
          <p:cNvPicPr preferRelativeResize="0"/>
          <p:nvPr/>
        </p:nvPicPr>
        <p:blipFill rotWithShape="1">
          <a:blip r:embed="rId4">
            <a:alphaModFix/>
          </a:blip>
          <a:srcRect b="0" l="0" r="0" t="0"/>
          <a:stretch/>
        </p:blipFill>
        <p:spPr>
          <a:xfrm>
            <a:off x="0" y="0"/>
            <a:ext cx="9144000" cy="514351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ClusterMind Team</dc:creator>
</cp:coreProperties>
</file>